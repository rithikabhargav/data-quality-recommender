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7" r:id="rId10"/>
    <p:sldId id="268" r:id="rId11"/>
    <p:sldId id="269" r:id="rId12"/>
    <p:sldId id="281" r:id="rId13"/>
    <p:sldId id="270" r:id="rId14"/>
    <p:sldId id="271" r:id="rId15"/>
    <p:sldId id="282" r:id="rId16"/>
    <p:sldId id="272" r:id="rId17"/>
    <p:sldId id="283" r:id="rId18"/>
    <p:sldId id="284" r:id="rId19"/>
    <p:sldId id="285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08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12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13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14.png"/><Relationship Id="rId7" Type="http://schemas.openxmlformats.org/officeDocument/2006/relationships/slide" Target="slide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24.xml"/><Relationship Id="rId5" Type="http://schemas.openxmlformats.org/officeDocument/2006/relationships/slide" Target="slide2.xml"/><Relationship Id="rId10" Type="http://schemas.openxmlformats.org/officeDocument/2006/relationships/slide" Target="slide20.xml"/><Relationship Id="rId4" Type="http://schemas.openxmlformats.org/officeDocument/2006/relationships/slide" Target="slide1.xml"/><Relationship Id="rId9" Type="http://schemas.openxmlformats.org/officeDocument/2006/relationships/slide" Target="slide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20.xml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12" Type="http://schemas.openxmlformats.org/officeDocument/2006/relationships/slide" Target="slide1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slide" Target="slide13.xml"/><Relationship Id="rId5" Type="http://schemas.openxmlformats.org/officeDocument/2006/relationships/image" Target="../media/image17.png"/><Relationship Id="rId10" Type="http://schemas.openxmlformats.org/officeDocument/2006/relationships/slide" Target="slide7.xml"/><Relationship Id="rId4" Type="http://schemas.openxmlformats.org/officeDocument/2006/relationships/slide" Target="slide1.xml"/><Relationship Id="rId9" Type="http://schemas.openxmlformats.org/officeDocument/2006/relationships/slide" Target="slide4.xml"/><Relationship Id="rId14" Type="http://schemas.openxmlformats.org/officeDocument/2006/relationships/slide" Target="slide2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4.xml"/><Relationship Id="rId3" Type="http://schemas.openxmlformats.org/officeDocument/2006/relationships/image" Target="../media/image19.png"/><Relationship Id="rId7" Type="http://schemas.openxmlformats.org/officeDocument/2006/relationships/slide" Target="slide2.xml"/><Relationship Id="rId12" Type="http://schemas.openxmlformats.org/officeDocument/2006/relationships/slide" Target="slide2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slide" Target="slide17.xml"/><Relationship Id="rId5" Type="http://schemas.openxmlformats.org/officeDocument/2006/relationships/image" Target="../media/image20.png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4.xml"/><Relationship Id="rId3" Type="http://schemas.openxmlformats.org/officeDocument/2006/relationships/image" Target="../media/image2.png"/><Relationship Id="rId7" Type="http://schemas.openxmlformats.org/officeDocument/2006/relationships/slide" Target="slide2.xml"/><Relationship Id="rId12" Type="http://schemas.openxmlformats.org/officeDocument/2006/relationships/slide" Target="slide2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slide" Target="slide17.xml"/><Relationship Id="rId5" Type="http://schemas.openxmlformats.org/officeDocument/2006/relationships/image" Target="../media/image21.png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17.xml"/><Relationship Id="rId3" Type="http://schemas.openxmlformats.org/officeDocument/2006/relationships/image" Target="../media/image23.png"/><Relationship Id="rId7" Type="http://schemas.openxmlformats.org/officeDocument/2006/relationships/slide" Target="slide20.xml"/><Relationship Id="rId12" Type="http://schemas.openxmlformats.org/officeDocument/2006/relationships/slide" Target="slide13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11" Type="http://schemas.openxmlformats.org/officeDocument/2006/relationships/slide" Target="slide7.xml"/><Relationship Id="rId5" Type="http://schemas.openxmlformats.org/officeDocument/2006/relationships/slide" Target="slide8.xml"/><Relationship Id="rId10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2.xml"/><Relationship Id="rId14" Type="http://schemas.openxmlformats.org/officeDocument/2006/relationships/slide" Target="slide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24.png"/><Relationship Id="rId7" Type="http://schemas.openxmlformats.org/officeDocument/2006/relationships/slide" Target="slide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24.xml"/><Relationship Id="rId5" Type="http://schemas.openxmlformats.org/officeDocument/2006/relationships/slide" Target="slide2.xml"/><Relationship Id="rId10" Type="http://schemas.openxmlformats.org/officeDocument/2006/relationships/slide" Target="slide20.xml"/><Relationship Id="rId4" Type="http://schemas.openxmlformats.org/officeDocument/2006/relationships/slide" Target="slide1.xml"/><Relationship Id="rId9" Type="http://schemas.openxmlformats.org/officeDocument/2006/relationships/slide" Target="slide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4.xml"/><Relationship Id="rId3" Type="http://schemas.openxmlformats.org/officeDocument/2006/relationships/image" Target="../media/image25.png"/><Relationship Id="rId7" Type="http://schemas.openxmlformats.org/officeDocument/2006/relationships/slide" Target="slide2.xml"/><Relationship Id="rId12" Type="http://schemas.openxmlformats.org/officeDocument/2006/relationships/slide" Target="slide2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slide" Target="slide17.xml"/><Relationship Id="rId5" Type="http://schemas.openxmlformats.org/officeDocument/2006/relationships/image" Target="../media/image26.png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20.xml"/><Relationship Id="rId3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slide" Target="slide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slide" Target="slide13.xml"/><Relationship Id="rId5" Type="http://schemas.openxmlformats.org/officeDocument/2006/relationships/image" Target="../media/image28.png"/><Relationship Id="rId10" Type="http://schemas.openxmlformats.org/officeDocument/2006/relationships/slide" Target="slide7.xml"/><Relationship Id="rId4" Type="http://schemas.openxmlformats.org/officeDocument/2006/relationships/slide" Target="slide1.xml"/><Relationship Id="rId9" Type="http://schemas.openxmlformats.org/officeDocument/2006/relationships/slide" Target="slide4.xml"/><Relationship Id="rId14" Type="http://schemas.openxmlformats.org/officeDocument/2006/relationships/slide" Target="slide2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4.xml"/><Relationship Id="rId3" Type="http://schemas.openxmlformats.org/officeDocument/2006/relationships/image" Target="../media/image30.png"/><Relationship Id="rId7" Type="http://schemas.openxmlformats.org/officeDocument/2006/relationships/slide" Target="slide2.xml"/><Relationship Id="rId12" Type="http://schemas.openxmlformats.org/officeDocument/2006/relationships/slide" Target="slide2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slide" Target="slide17.xml"/><Relationship Id="rId5" Type="http://schemas.openxmlformats.org/officeDocument/2006/relationships/image" Target="../media/image31.png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2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13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4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35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6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slide" Target="slide16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23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29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24.xml"/><Relationship Id="rId3" Type="http://schemas.openxmlformats.org/officeDocument/2006/relationships/image" Target="../media/image37.png"/><Relationship Id="rId7" Type="http://schemas.openxmlformats.org/officeDocument/2006/relationships/slide" Target="slide2.xml"/><Relationship Id="rId12" Type="http://schemas.openxmlformats.org/officeDocument/2006/relationships/slide" Target="slide2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4.xml"/><Relationship Id="rId11" Type="http://schemas.openxmlformats.org/officeDocument/2006/relationships/slide" Target="slide17.xml"/><Relationship Id="rId5" Type="http://schemas.openxmlformats.org/officeDocument/2006/relationships/image" Target="../media/image38.png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slide" Target="slide17.xml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slide" Target="slide13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slide" Target="slide7.xml"/><Relationship Id="rId5" Type="http://schemas.openxmlformats.org/officeDocument/2006/relationships/image" Target="../media/image41.png"/><Relationship Id="rId15" Type="http://schemas.openxmlformats.org/officeDocument/2006/relationships/slide" Target="slide24.xml"/><Relationship Id="rId10" Type="http://schemas.openxmlformats.org/officeDocument/2006/relationships/slide" Target="slide4.xml"/><Relationship Id="rId4" Type="http://schemas.openxmlformats.org/officeDocument/2006/relationships/slide" Target="slide1.xml"/><Relationship Id="rId9" Type="http://schemas.openxmlformats.org/officeDocument/2006/relationships/slide" Target="slide2.xml"/><Relationship Id="rId14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44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13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45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image" Target="../media/image46.png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48.png"/><Relationship Id="rId7" Type="http://schemas.openxmlformats.org/officeDocument/2006/relationships/slide" Target="slide4.xml"/><Relationship Id="rId12" Type="http://schemas.openxmlformats.org/officeDocument/2006/relationships/slide" Target="slide24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11" Type="http://schemas.openxmlformats.org/officeDocument/2006/relationships/slide" Target="slide20.xml"/><Relationship Id="rId5" Type="http://schemas.openxmlformats.org/officeDocument/2006/relationships/slide" Target="slide21.xml"/><Relationship Id="rId10" Type="http://schemas.openxmlformats.org/officeDocument/2006/relationships/slide" Target="slide17.xml"/><Relationship Id="rId4" Type="http://schemas.openxmlformats.org/officeDocument/2006/relationships/slide" Target="slide1.xml"/><Relationship Id="rId9" Type="http://schemas.openxmlformats.org/officeDocument/2006/relationships/slide" Target="slide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49.png"/><Relationship Id="rId7" Type="http://schemas.openxmlformats.org/officeDocument/2006/relationships/slide" Target="slide2.xml"/><Relationship Id="rId12" Type="http://schemas.openxmlformats.org/officeDocument/2006/relationships/slide" Target="slide24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0" Type="http://schemas.openxmlformats.org/officeDocument/2006/relationships/slide" Target="slide13.xml"/><Relationship Id="rId4" Type="http://schemas.openxmlformats.org/officeDocument/2006/relationships/slide" Target="slide1.xml"/><Relationship Id="rId9" Type="http://schemas.openxmlformats.org/officeDocument/2006/relationships/slide" Target="slide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20.xml"/><Relationship Id="rId3" Type="http://schemas.openxmlformats.org/officeDocument/2006/relationships/image" Target="../media/image50.png"/><Relationship Id="rId7" Type="http://schemas.openxmlformats.org/officeDocument/2006/relationships/image" Target="../media/image13.png"/><Relationship Id="rId12" Type="http://schemas.openxmlformats.org/officeDocument/2006/relationships/slide" Target="slide17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1.xml"/><Relationship Id="rId11" Type="http://schemas.openxmlformats.org/officeDocument/2006/relationships/slide" Target="slide13.xml"/><Relationship Id="rId5" Type="http://schemas.openxmlformats.org/officeDocument/2006/relationships/image" Target="../media/image51.png"/><Relationship Id="rId10" Type="http://schemas.openxmlformats.org/officeDocument/2006/relationships/slide" Target="slide7.xml"/><Relationship Id="rId4" Type="http://schemas.openxmlformats.org/officeDocument/2006/relationships/slide" Target="slide1.xml"/><Relationship Id="rId9" Type="http://schemas.openxmlformats.org/officeDocument/2006/relationships/slide" Target="slide4.xml"/><Relationship Id="rId14" Type="http://schemas.openxmlformats.org/officeDocument/2006/relationships/slide" Target="slide2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20.xml"/><Relationship Id="rId3" Type="http://schemas.openxmlformats.org/officeDocument/2006/relationships/image" Target="../media/image45.png"/><Relationship Id="rId7" Type="http://schemas.openxmlformats.org/officeDocument/2006/relationships/image" Target="../media/image13.png"/><Relationship Id="rId12" Type="http://schemas.openxmlformats.org/officeDocument/2006/relationships/slide" Target="slide17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slide" Target="slide13.xml"/><Relationship Id="rId5" Type="http://schemas.openxmlformats.org/officeDocument/2006/relationships/image" Target="../media/image52.png"/><Relationship Id="rId10" Type="http://schemas.openxmlformats.org/officeDocument/2006/relationships/slide" Target="slide7.xml"/><Relationship Id="rId4" Type="http://schemas.openxmlformats.org/officeDocument/2006/relationships/slide" Target="slide1.xml"/><Relationship Id="rId9" Type="http://schemas.openxmlformats.org/officeDocument/2006/relationships/slide" Target="slide4.xml"/><Relationship Id="rId14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13.png"/><Relationship Id="rId7" Type="http://schemas.openxmlformats.org/officeDocument/2006/relationships/slide" Target="slide7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24.xml"/><Relationship Id="rId5" Type="http://schemas.openxmlformats.org/officeDocument/2006/relationships/slide" Target="slide2.xml"/><Relationship Id="rId10" Type="http://schemas.openxmlformats.org/officeDocument/2006/relationships/slide" Target="slide20.xml"/><Relationship Id="rId4" Type="http://schemas.openxmlformats.org/officeDocument/2006/relationships/slide" Target="slide1.xml"/><Relationship Id="rId9" Type="http://schemas.openxmlformats.org/officeDocument/2006/relationships/slide" Target="sl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858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an-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96442"/>
            <a:ext cx="281635" cy="281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7315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8A7A"/>
                </a:solidFill>
                <a:latin typeface="Calibri"/>
              </a:rPr>
              <a:t>AASD 4014 DEEP LEARNING I  ·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" y="1444526"/>
            <a:ext cx="918057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1D3557"/>
                </a:solidFill>
                <a:latin typeface="Cambria"/>
              </a:rPr>
              <a:t>D</a:t>
            </a:r>
            <a:r>
              <a:rPr lang="en-US" sz="4400" b="1" i="0" dirty="0">
                <a:solidFill>
                  <a:srgbClr val="1D3557"/>
                </a:solidFill>
                <a:latin typeface="Cambria"/>
              </a:rPr>
              <a:t>ata Quality</a:t>
            </a:r>
            <a:r>
              <a:rPr sz="4400" b="1" i="0" dirty="0">
                <a:solidFill>
                  <a:srgbClr val="1D3557"/>
                </a:solidFill>
                <a:latin typeface="Cambria"/>
              </a:rPr>
              <a:t>-Recommender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B6B7B"/>
                </a:solidFill>
                <a:latin typeface="Calibri"/>
              </a:rPr>
              <a:t>A </a:t>
            </a:r>
            <a:r>
              <a:rPr sz="2000" b="0" i="0" dirty="0" err="1">
                <a:solidFill>
                  <a:srgbClr val="5B6B7B"/>
                </a:solidFill>
                <a:latin typeface="Calibri"/>
              </a:rPr>
              <a:t>BiGRU</a:t>
            </a:r>
            <a:r>
              <a:rPr sz="2000" b="0" i="0" dirty="0">
                <a:solidFill>
                  <a:srgbClr val="5B6B7B"/>
                </a:solidFill>
                <a:latin typeface="Calibri"/>
              </a:rPr>
              <a:t> and a denoising autoencoder that audit text data, and an agent that fixes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alibri"/>
              </a:rPr>
              <a:t>      AG News</a:t>
            </a:r>
          </a:p>
        </p:txBody>
      </p:sp>
      <p:pic>
        <p:nvPicPr>
          <p:cNvPr id="9" name="Picture 8" descr="newspaper_2F6F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694176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057400" y="3611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alibri"/>
              </a:rPr>
              <a:t>      BiGRU</a:t>
            </a:r>
          </a:p>
        </p:txBody>
      </p:sp>
      <p:pic>
        <p:nvPicPr>
          <p:cNvPr id="11" name="Picture 10" descr="brain_4C5F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128" y="3694176"/>
            <a:ext cx="219456" cy="2194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83280" y="3611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alibri"/>
              </a:rPr>
              <a:t>      Autoencoder</a:t>
            </a:r>
          </a:p>
        </p:txBody>
      </p:sp>
      <p:pic>
        <p:nvPicPr>
          <p:cNvPr id="13" name="Picture 12" descr="layers_E4572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694176"/>
            <a:ext cx="219456" cy="21945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09159" y="3611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alibri"/>
              </a:rPr>
              <a:t>      Agent</a:t>
            </a:r>
          </a:p>
        </p:txBody>
      </p:sp>
      <p:pic>
        <p:nvPicPr>
          <p:cNvPr id="15" name="Picture 14" descr="bot_8A5C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694176"/>
            <a:ext cx="219456" cy="21945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35040" y="3611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alibri"/>
              </a:rPr>
              <a:t>      Streamlit</a:t>
            </a:r>
          </a:p>
        </p:txBody>
      </p:sp>
      <p:pic>
        <p:nvPicPr>
          <p:cNvPr id="17" name="Picture 16" descr="presentation_0F9D8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3694176"/>
            <a:ext cx="219456" cy="21945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001000" y="1188720"/>
            <a:ext cx="352044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835640" y="13898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4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arget_4C5FD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6224" y="1490472"/>
            <a:ext cx="256032" cy="25603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75320" y="132588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00" b="1" i="0">
                <a:solidFill>
                  <a:srgbClr val="4C5FD5"/>
                </a:solidFill>
                <a:latin typeface="Cambria"/>
              </a:rPr>
              <a:t>91.97%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196596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BiGRU test accuracy on 7,600 unseen rows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651760"/>
            <a:ext cx="352044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835640" y="2852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tag_E4572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36224" y="2953512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75320" y="278892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00" b="1" i="0">
                <a:solidFill>
                  <a:srgbClr val="E4572E"/>
                </a:solidFill>
                <a:latin typeface="Cambria"/>
              </a:rPr>
              <a:t>91.3%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4290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injected label flips found (ROC-AUC 0.975)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114800"/>
            <a:ext cx="352044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835640" y="431596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parkles_8A5CC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6224" y="4416552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75320" y="425196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00" b="1" i="0">
                <a:solidFill>
                  <a:srgbClr val="8A5CC2"/>
                </a:solidFill>
                <a:latin typeface="Cambria"/>
              </a:rPr>
              <a:t>86.2 → 99.6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892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data quality score after the agent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511A6A-9F47-4D3C-AF32-1FAD4CE3A46A}"/>
              </a:ext>
            </a:extLst>
          </p:cNvPr>
          <p:cNvSpPr txBox="1"/>
          <p:nvPr/>
        </p:nvSpPr>
        <p:spPr>
          <a:xfrm>
            <a:off x="580644" y="4808511"/>
            <a:ext cx="571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Rithika Bhargav Khandavilli</a:t>
            </a:r>
          </a:p>
          <a:p>
            <a:r>
              <a:rPr lang="en-US" dirty="0"/>
              <a:t>Joao Marcos Gomes Da Silva</a:t>
            </a:r>
          </a:p>
          <a:p>
            <a:r>
              <a:rPr lang="en-US" dirty="0"/>
              <a:t>Sergey Molkov</a:t>
            </a:r>
          </a:p>
          <a:p>
            <a:r>
              <a:rPr lang="en-US" dirty="0"/>
              <a:t>James Tharian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0F9D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09137"/>
            <a:ext cx="35661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0F9D8A"/>
                </a:solidFill>
                <a:latin typeface="Calibri"/>
              </a:rPr>
              <a:t>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newspap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Bad training data is found late and fixed by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Background and 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874519"/>
            <a:ext cx="54864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057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The real-world situation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514600"/>
            <a:ext cx="50292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600"/>
              </a:spcAft>
              <a:buClr>
                <a:srgbClr val="1B8A7A"/>
              </a:buClr>
              <a:buFont typeface="Arial"/>
              <a:buChar char="•"/>
            </a:pPr>
            <a:r>
              <a:rPr sz="1500" b="0">
                <a:solidFill>
                  <a:srgbClr val="1D3557"/>
                </a:solidFill>
                <a:latin typeface="Calibri"/>
              </a:rPr>
              <a:t>A news aggregator receives new labelled batches every week from scrapers, partners and annotators</a:t>
            </a:r>
          </a:p>
          <a:p>
            <a:pPr marL="201168" indent="-201168">
              <a:spcAft>
                <a:spcPts val="600"/>
              </a:spcAft>
              <a:buClr>
                <a:srgbClr val="1B8A7A"/>
              </a:buClr>
              <a:buFont typeface="Arial"/>
              <a:buChar char="•"/>
            </a:pPr>
            <a:r>
              <a:rPr sz="1500" b="0">
                <a:solidFill>
                  <a:srgbClr val="1D3557"/>
                </a:solidFill>
                <a:latin typeface="Calibri"/>
              </a:rPr>
              <a:t>Batches contain missing fields, 'N/A' placeholders, duplicated wire stories and broken HTML</a:t>
            </a:r>
          </a:p>
          <a:p>
            <a:pPr marL="201168" indent="-201168">
              <a:spcAft>
                <a:spcPts val="600"/>
              </a:spcAft>
              <a:buClr>
                <a:srgbClr val="1B8A7A"/>
              </a:buClr>
              <a:buFont typeface="Arial"/>
              <a:buChar char="•"/>
            </a:pPr>
            <a:r>
              <a:rPr sz="1500" b="1">
                <a:solidFill>
                  <a:srgbClr val="1D3557"/>
                </a:solidFill>
                <a:latin typeface="Calibri"/>
              </a:rPr>
              <a:t>Wrong labels</a:t>
            </a:r>
            <a:r>
              <a:rPr sz="1500" b="0">
                <a:solidFill>
                  <a:srgbClr val="1D3557"/>
                </a:solidFill>
                <a:latin typeface="Calibri"/>
              </a:rPr>
              <a:t> and </a:t>
            </a:r>
            <a:r>
              <a:rPr sz="1500" b="1">
                <a:solidFill>
                  <a:srgbClr val="1D3557"/>
                </a:solidFill>
                <a:latin typeface="Calibri"/>
              </a:rPr>
              <a:t>junk rows</a:t>
            </a:r>
            <a:r>
              <a:rPr sz="1500" b="0">
                <a:solidFill>
                  <a:srgbClr val="1D3557"/>
                </a:solidFill>
                <a:latin typeface="Calibri"/>
              </a:rPr>
              <a:t> (gibberish, code, product listings) cannot be caught with rules</a:t>
            </a:r>
          </a:p>
          <a:p>
            <a:pPr marL="201168" indent="-201168">
              <a:spcAft>
                <a:spcPts val="600"/>
              </a:spcAft>
              <a:buClr>
                <a:srgbClr val="1B8A7A"/>
              </a:buClr>
              <a:buFont typeface="Arial"/>
              <a:buChar char="•"/>
            </a:pPr>
            <a:r>
              <a:rPr sz="1500" b="0">
                <a:solidFill>
                  <a:srgbClr val="1D3557"/>
                </a:solidFill>
                <a:latin typeface="Calibri"/>
              </a:rPr>
              <a:t>Today these are found by hand, often only after a model behaves strangely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874519"/>
            <a:ext cx="5376672" cy="1828800"/>
          </a:xfrm>
          <a:prstGeom prst="roundRect">
            <a:avLst>
              <a:gd name="adj" fmla="val 6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8A7A"/>
                </a:solidFill>
                <a:latin typeface="Calibri"/>
              </a:rPr>
              <a:t>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231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D3557"/>
                </a:solidFill>
                <a:latin typeface="Calibri"/>
              </a:rPr>
              <a:t>Given any CSV of labelled text: detect the quality issues, score them, recommend an ordered preprocessing plan, and let an agent apply and verify the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86200"/>
            <a:ext cx="537667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Success criteria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3484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3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Classifier good enough to audit labels (&gt; 90% test accuracy)</a:t>
            </a:r>
          </a:p>
          <a:p>
            <a:pPr marL="201168" indent="-201168">
              <a:spcAft>
                <a:spcPts val="3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High recall on issues we inject ourselves (known ground truth)</a:t>
            </a:r>
          </a:p>
          <a:p>
            <a:pPr marL="201168" indent="-201168">
              <a:spcAft>
                <a:spcPts val="3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Cleaning must improve a model trained on the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2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ightbulb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F9D8A"/>
                </a:solidFill>
                <a:latin typeface="Calibri"/>
              </a:rPr>
              <a:t>Course option 1 (RNN models on text, trained and evaluated) plus an option 2 element (an agent solving a real task)</a:t>
            </a:r>
          </a:p>
        </p:txBody>
      </p:sp>
      <p:sp>
        <p:nvSpPr>
          <p:cNvPr id="35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6" name="!!navactive"/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7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38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9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0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1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2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3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4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!!progress"/>
          <p:cNvSpPr/>
          <p:nvPr/>
        </p:nvSpPr>
        <p:spPr>
          <a:xfrm>
            <a:off x="548640" y="6382512"/>
            <a:ext cx="887333" cy="4572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0F9D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09137"/>
            <a:ext cx="35661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0F9D8A"/>
                </a:solidFill>
                <a:latin typeface="Calibri"/>
              </a:rPr>
              <a:t>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out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Plan of 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Data first, then two models from scratch, then measure the whole system on known problems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3/25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52144" y="2103120"/>
            <a:ext cx="457200" cy="457200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EDA +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balance, correlation, hidden issues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31136" y="2971800"/>
            <a:ext cx="173736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026664" y="2103120"/>
            <a:ext cx="457200" cy="457200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Preprocess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repair, dedupe, leakage, outliers, vocab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05656" y="2971800"/>
            <a:ext cx="173736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97679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901183" y="2103120"/>
            <a:ext cx="457200" cy="457200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Train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BiGRU + char autoencoder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0175" y="2971800"/>
            <a:ext cx="173736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72199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75703" y="2103120"/>
            <a:ext cx="457200" cy="457200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39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Tune + 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39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grid search, curves, confusion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54696" y="2971800"/>
            <a:ext cx="173735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46719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650224" y="21031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9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Recommender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issues, severity, score, plan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9215" y="2971800"/>
            <a:ext cx="173736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21240" y="1920240"/>
            <a:ext cx="166420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524744" y="210312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2670048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D3557"/>
                </a:solidFill>
                <a:latin typeface="Calibri"/>
              </a:rPr>
              <a:t>Agent + 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3108960"/>
            <a:ext cx="1481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B6B7B"/>
                </a:solidFill>
                <a:latin typeface="Calibri"/>
              </a:rPr>
              <a:t>apply, verify, Streamlit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How each layer is evaluated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709160"/>
            <a:ext cx="35935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7731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7A"/>
                </a:solidFill>
                <a:latin typeface="Calibri"/>
              </a:rPr>
              <a:t>Classifier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04748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accuracy, macro-F1, confusion matrix on the untouched 7,600-row test set, against a TF-IDF benchmark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79" y="4709160"/>
            <a:ext cx="35935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80559" y="47731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Calibri"/>
              </a:rPr>
              <a:t>Detectors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59" y="504748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recall, precision and ROC-AUC on a test copy with 14 kinds of injected issues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6719" y="4709160"/>
            <a:ext cx="35935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9599" y="47731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9A23B"/>
                </a:solidFill>
                <a:latin typeface="Calibri"/>
              </a:rPr>
              <a:t>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599" y="5047488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retrain the same model on the data before and after; score on 5,000 independent clean rows</a:t>
            </a:r>
          </a:p>
        </p:txBody>
      </p:sp>
      <p:sp>
        <p:nvSpPr>
          <p:cNvPr id="61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62" name="!!navactive"/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63" name="!!tab0">
            <a:hlinkClick r:id="rId5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64" name="!!tab1">
            <a:hlinkClick r:id="rId6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65" name="!!tab2">
            <a:hlinkClick r:id="rId7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66" name="!!tab3">
            <a:hlinkClick r:id="rId8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67" name="!!tab4">
            <a:hlinkClick r:id="rId9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68" name="!!tab5">
            <a:hlinkClick r:id="rId10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69" name="!!tab6">
            <a:hlinkClick r:id="rId11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70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!!progress"/>
          <p:cNvSpPr/>
          <p:nvPr/>
        </p:nvSpPr>
        <p:spPr>
          <a:xfrm>
            <a:off x="548640" y="6382512"/>
            <a:ext cx="1331000" cy="4572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2F6F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2F6FB3"/>
                </a:solidFill>
                <a:latin typeface="Calibri"/>
              </a:rP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The dataset: AG 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127,600 news snippets, 4 topics, Kaggle: amananandrai/ag-news-classification-dataset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4/25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67665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lass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29" y="1920240"/>
            <a:ext cx="6054181" cy="21031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8640" y="4251960"/>
            <a:ext cx="67665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top_wor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4902" y="4343400"/>
            <a:ext cx="5194035" cy="12801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543800" y="178308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44968" y="1856231"/>
            <a:ext cx="15636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120,000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2404872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training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78308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1856231"/>
            <a:ext cx="15636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7,600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404872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test rows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01752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4968" y="3090672"/>
            <a:ext cx="15636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1 :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8" y="3639312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class ratio, no imbalance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74352" y="301752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20" y="3090672"/>
            <a:ext cx="15636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639312"/>
            <a:ext cx="15636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words per row on average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4251960"/>
            <a:ext cx="4096512" cy="1463040"/>
          </a:xfrm>
          <a:prstGeom prst="roundRect">
            <a:avLst>
              <a:gd name="adj" fmla="val 6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26679" y="4343400"/>
            <a:ext cx="374903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8A7A"/>
                </a:solidFill>
                <a:latin typeface="Calibri"/>
              </a:rPr>
              <a:t>Imbalance: </a:t>
            </a:r>
            <a:r>
              <a:rPr sz="1300" b="0" i="0">
                <a:solidFill>
                  <a:srgbClr val="1D3557"/>
                </a:solidFill>
                <a:latin typeface="Calibri"/>
              </a:rPr>
              <a:t>none in AG News, so no resampling. The recommender still measures it (imbalance ratio, normalised entropy) and suggests class weights for uploaded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6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F6FB3"/>
                </a:solidFill>
                <a:latin typeface="Calibri"/>
              </a:rPr>
              <a:t>Columns: Class Index (1 World, 2 Sports, 3 Business, 4 Sci/Tech), Title, Description</a:t>
            </a:r>
          </a:p>
        </p:txBody>
      </p:sp>
      <p:sp>
        <p:nvSpPr>
          <p:cNvPr id="44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5" name="!!navactive"/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6" name="!!tab0">
            <a:hlinkClick r:id="rId8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7" name="!!tab1">
            <a:hlinkClick r:id="rId9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48" name="!!tab2">
            <a:hlinkClick r:id="rId10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9" name="!!tab3">
            <a:hlinkClick r:id="rId11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50" name="!!tab4">
            <a:hlinkClick r:id="rId12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51" name="!!tab5">
            <a:hlinkClick r:id="rId13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52" name="!!tab6">
            <a:hlinkClick r:id="rId14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3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progress"/>
          <p:cNvSpPr/>
          <p:nvPr/>
        </p:nvSpPr>
        <p:spPr>
          <a:xfrm>
            <a:off x="548640" y="6382512"/>
            <a:ext cx="1774667" cy="45720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2F6F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F6FB3"/>
                </a:solidFill>
                <a:latin typeface="Calibri"/>
              </a:rP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rid-3x3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EDA: correlation says we need a model of the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5/25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463040"/>
            <a:ext cx="525780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orre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63" y="1600200"/>
            <a:ext cx="4433553" cy="39776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035040" y="1463040"/>
            <a:ext cx="5605272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162763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What the heatmap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103120"/>
            <a:ext cx="52120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desc_chars vs desc_words r = 0.92: </a:t>
            </a:r>
            <a:r>
              <a:rPr sz="1400" b="0">
                <a:solidFill>
                  <a:srgbClr val="1D3557"/>
                </a:solidFill>
                <a:latin typeface="Calibri"/>
              </a:rPr>
              <a:t>redundant, keep one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Class links are weak (|r| ≤ 0.16): </a:t>
            </a:r>
            <a:r>
              <a:rPr sz="1400" b="0">
                <a:solidFill>
                  <a:srgbClr val="1D3557"/>
                </a:solidFill>
                <a:latin typeface="Calibri"/>
              </a:rPr>
              <a:t>digits and capitals lean Sports, a source prefix leans World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broken_entities vs punct_ratio r = 0.60: </a:t>
            </a:r>
            <a:r>
              <a:rPr sz="1400" b="0">
                <a:solidFill>
                  <a:srgbClr val="1D3557"/>
                </a:solidFill>
                <a:latin typeface="Calibri"/>
              </a:rPr>
              <a:t>HTML debris inflates punctuation, a data quality signal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Source prefix </a:t>
            </a:r>
            <a:r>
              <a:rPr sz="1400" b="0">
                <a:solidFill>
                  <a:srgbClr val="1D3557"/>
                </a:solidFill>
                <a:latin typeface="Calibri"/>
              </a:rPr>
              <a:t>(Reuters, AP, AFP) in 16% of rows leans to some classes: a mild shortcut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6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F6FB3"/>
                </a:solidFill>
                <a:latin typeface="Calibri"/>
              </a:rPr>
              <a:t>Topic is not decided by length or formatting, which motivated a recurrent model over learned word embeddings</a:t>
            </a:r>
          </a:p>
        </p:txBody>
      </p:sp>
      <p:sp>
        <p:nvSpPr>
          <p:cNvPr id="30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1" name="!!navactive"/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2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3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4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35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6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37" name="!!tab5">
            <a:hlinkClick r:id="rId12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38" name="!!tab6">
            <a:hlinkClick r:id="rId13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39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progress"/>
          <p:cNvSpPr/>
          <p:nvPr/>
        </p:nvSpPr>
        <p:spPr>
          <a:xfrm>
            <a:off x="548640" y="6382512"/>
            <a:ext cx="2218334" cy="45720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2F6F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F6FB3"/>
                </a:solidFill>
                <a:latin typeface="Calibri"/>
              </a:rP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can-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AG News looks clean, but it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No NaN and perfectly balanced, yet a manual audit finds real problems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6/25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1828800"/>
          <a:ext cx="6035040" cy="31455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Broken HTML entities (#39;, quot;)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29,132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Repair, unescape twice, NFKC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Escaped tags / backslashes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2,675 / 12,522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Strip tags, replace backslashes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Same text, conflicting labels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Drop the group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Duplicate texts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Keep the first copy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Train rows also in test (leakage)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Remove from training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Longer than IQR bound (59.5 tokens)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3,320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Truncate at 71 (99th pct)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Fewer than 5 tokens ('#NAME?')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812280" y="1828800"/>
            <a:ext cx="482803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ength_outl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1956839"/>
            <a:ext cx="4608576" cy="18927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812280" y="4114800"/>
            <a:ext cx="4828032" cy="160020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5160" y="420624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Calibri"/>
              </a:rPr>
              <a:t>Outliers: </a:t>
            </a:r>
            <a:r>
              <a:rPr sz="1300" b="0" i="0">
                <a:solidFill>
                  <a:srgbClr val="1D3557"/>
                </a:solidFill>
                <a:latin typeface="Calibri"/>
              </a:rPr>
              <a:t>long rows are real news, so we truncate at 71 tokens (0.96% of rows) instead of dropping. 30,000 words cover 98.7% of tokens; the bag-of-words matrix is 99.95% zeros, so we use dense learned embeddings.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6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F6FB3"/>
                </a:solidFill>
                <a:latin typeface="Calibri"/>
              </a:rPr>
              <a:t>119,598 clean rows → 107,638 train / 11,960 validation (stratified); 7,600 test rows untouched</a:t>
            </a:r>
          </a:p>
        </p:txBody>
      </p:sp>
      <p:sp>
        <p:nvSpPr>
          <p:cNvPr id="31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2" name="!!navactive"/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3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4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5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36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7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38" name="!!tab5">
            <a:hlinkClick r:id="rId12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39" name="!!tab6">
            <a:hlinkClick r:id="rId13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0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progress"/>
          <p:cNvSpPr/>
          <p:nvPr/>
        </p:nvSpPr>
        <p:spPr>
          <a:xfrm>
            <a:off x="548640" y="6382512"/>
            <a:ext cx="2662001" cy="45720"/>
          </a:xfrm>
          <a:prstGeom prst="roundRect">
            <a:avLst>
              <a:gd name="adj" fmla="val 50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4C5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orkfl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Methods at a glance: how the pieces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Two networks feed a recommender; the agent acts on its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7/25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8892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86207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CSV of labelled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0040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any upload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178308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1856231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Statistical profiler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19456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missing, dups, conflicts, sparsity, outliers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78892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286207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7A"/>
                </a:solidFill>
                <a:latin typeface="Calibri"/>
              </a:rPr>
              <a:t>BiGRU classifier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p(class | text) → label auditor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79476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386791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Calibri"/>
              </a:rPr>
              <a:t>Char autoencoder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0624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reconstruction error → anomaly 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788920"/>
            <a:ext cx="2377440" cy="868680"/>
          </a:xfrm>
          <a:prstGeom prst="roundRect">
            <a:avLst>
              <a:gd name="adj" fmla="val 6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8620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7791F"/>
                </a:solidFill>
                <a:latin typeface="Calibri"/>
              </a:rPr>
              <a:t>Recommender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20040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issues, severity, 0-100 score, plan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2788920"/>
            <a:ext cx="2404872" cy="868680"/>
          </a:xfrm>
          <a:prstGeom prst="roundRect">
            <a:avLst>
              <a:gd name="adj" fmla="val 6000"/>
            </a:avLst>
          </a:prstGeom>
          <a:solidFill>
            <a:srgbClr val="EF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72600" y="2862072"/>
            <a:ext cx="21305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7A4E8C"/>
                </a:solidFill>
                <a:latin typeface="Calibri"/>
              </a:rPr>
              <a:t>Preprocessing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200400"/>
            <a:ext cx="21305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observe → plan → act → verify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743200" y="2212848"/>
            <a:ext cx="530352" cy="100584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24728" y="2212848"/>
            <a:ext cx="557784" cy="100584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43200" y="3218688"/>
            <a:ext cx="530352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824728" y="3218688"/>
            <a:ext cx="557784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43200" y="3218688"/>
            <a:ext cx="530352" cy="100584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824728" y="3218688"/>
            <a:ext cx="557784" cy="100584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796528" y="3218688"/>
            <a:ext cx="420624" cy="0"/>
          </a:xfrm>
          <a:prstGeom prst="line">
            <a:avLst/>
          </a:prstGeom>
          <a:ln w="22225">
            <a:solidFill>
              <a:srgbClr val="5B6B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235440" y="3749039"/>
            <a:ext cx="24048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7A4E8C"/>
                </a:solidFill>
                <a:latin typeface="Calibri"/>
              </a:rPr>
              <a:t>re-audits after every step and rolls back if the score drops</a:t>
            </a:r>
          </a:p>
        </p:txBody>
      </p:sp>
      <p:sp>
        <p:nvSpPr>
          <p:cNvPr id="48" name="Rounded Rectangle 47">
            <a:hlinkClick r:id="rId5" action="ppaction://hlinksldjump"/>
          </p:cNvPr>
          <p:cNvSpPr/>
          <p:nvPr/>
        </p:nvSpPr>
        <p:spPr>
          <a:xfrm>
            <a:off x="548640" y="51663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B8A7A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BiGRU deep dive  →</a:t>
            </a:r>
          </a:p>
        </p:txBody>
      </p:sp>
      <p:sp>
        <p:nvSpPr>
          <p:cNvPr id="49" name="Rounded Rectangle 48">
            <a:hlinkClick r:id="rId6" action="ppaction://hlinksldjump"/>
          </p:cNvPr>
          <p:cNvSpPr/>
          <p:nvPr/>
        </p:nvSpPr>
        <p:spPr>
          <a:xfrm>
            <a:off x="2926080" y="51663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Autoencoder deep dive  →</a:t>
            </a:r>
          </a:p>
        </p:txBody>
      </p:sp>
      <p:sp>
        <p:nvSpPr>
          <p:cNvPr id="50" name="Rounded Rectangle 49">
            <a:hlinkClick r:id="rId7" action="ppaction://hlinksldjump"/>
          </p:cNvPr>
          <p:cNvSpPr/>
          <p:nvPr/>
        </p:nvSpPr>
        <p:spPr>
          <a:xfrm>
            <a:off x="5303520" y="516636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7A4E8C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deep dive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9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lightbul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C5FD5"/>
                </a:solidFill>
                <a:latin typeface="Calibri"/>
              </a:rPr>
              <a:t>Both networks are trained from scratch in PyTorch; the recommender and agent reuse them through one shared package (dq/)</a:t>
            </a:r>
          </a:p>
        </p:txBody>
      </p:sp>
      <p:sp>
        <p:nvSpPr>
          <p:cNvPr id="55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6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7" name="!!tab0">
            <a:hlinkClick r:id="rId9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58" name="!!tab1">
            <a:hlinkClick r:id="rId10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59" name="!!tab2">
            <a:hlinkClick r:id="rId11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60" name="!!tab3">
            <a:hlinkClick r:id="rId12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61" name="!!tab4">
            <a:hlinkClick r:id="rId13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62" name="!!tab5">
            <a:hlinkClick r:id="rId7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63" name="!!tab6">
            <a:hlinkClick r:id="rId14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64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!!progress"/>
          <p:cNvSpPr/>
          <p:nvPr/>
        </p:nvSpPr>
        <p:spPr>
          <a:xfrm>
            <a:off x="548640" y="6382512"/>
            <a:ext cx="3105668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4C5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ra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BiGRU classifier: architecture and tensor shapes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Embedding → bidirectional GRU → masked max + mean pooling → regularised MLP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8/25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Token ids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30k vocab, pad = 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31136" y="2542032"/>
            <a:ext cx="173736" cy="0"/>
          </a:xfrm>
          <a:prstGeom prst="line">
            <a:avLst/>
          </a:prstGeom>
          <a:ln w="22225">
            <a:solidFill>
              <a:srgbClr val="1B8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96312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Embedding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71 ×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6.0 M params, dropout 0.15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05656" y="2542032"/>
            <a:ext cx="173736" cy="0"/>
          </a:xfrm>
          <a:prstGeom prst="line">
            <a:avLst/>
          </a:prstGeom>
          <a:ln w="22225">
            <a:solidFill>
              <a:srgbClr val="1B8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97679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70831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BiGRU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71 × 256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1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128 units each way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0175" y="2542032"/>
            <a:ext cx="173736" cy="0"/>
          </a:xfrm>
          <a:prstGeom prst="line">
            <a:avLst/>
          </a:prstGeom>
          <a:ln w="22225">
            <a:solidFill>
              <a:srgbClr val="1B8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72199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5351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Max ⊕ mean pool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79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512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1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padding masked out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54696" y="2542032"/>
            <a:ext cx="173735" cy="0"/>
          </a:xfrm>
          <a:prstGeom prst="line">
            <a:avLst/>
          </a:prstGeom>
          <a:ln w="22225">
            <a:solidFill>
              <a:srgbClr val="1B8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46719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9871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BN · Drop · Dense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599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128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1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ReLU, dropout 0.3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9215" y="2542032"/>
            <a:ext cx="173736" cy="0"/>
          </a:xfrm>
          <a:prstGeom prst="line">
            <a:avLst/>
          </a:prstGeom>
          <a:ln w="22225">
            <a:solidFill>
              <a:srgbClr val="1B8A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21240" y="1828800"/>
            <a:ext cx="166420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B8A7A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94392" y="1920240"/>
            <a:ext cx="1517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Calibri"/>
              </a:rPr>
              <a:t>BN · Drop · Dense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19" y="233172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B8A7A"/>
                </a:solidFill>
                <a:latin typeface="Consolas"/>
              </a:rPr>
              <a:t>B ×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4392" y="274320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logits → softmax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8640" y="3520440"/>
          <a:ext cx="5852160" cy="21122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Embedding 30,000 × 200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6,000,000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V × 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BiGRU (2 directions)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253,440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 × 3H(E + H + 2)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BatchNorm 512 + 128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1,280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2 × features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Linear 512 → 128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65,664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512·128 + 128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Linear 128 → 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516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128·4 + 4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6,320,900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95% in the embedding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Rounded Rectangle 51"/>
          <p:cNvSpPr/>
          <p:nvPr/>
        </p:nvSpPr>
        <p:spPr>
          <a:xfrm>
            <a:off x="6629400" y="3520440"/>
            <a:ext cx="501091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8000" y="363931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8A7A"/>
                </a:solidFill>
                <a:latin typeface="Calibri"/>
              </a:rPr>
              <a:t>Why this 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005072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400"/>
              </a:spcAft>
              <a:buClr>
                <a:srgbClr val="1B8A7A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GRU over LSTM: </a:t>
            </a:r>
            <a:r>
              <a:rPr sz="1200" b="0">
                <a:solidFill>
                  <a:srgbClr val="1D3557"/>
                </a:solidFill>
                <a:latin typeface="Calibri"/>
              </a:rPr>
              <a:t>2 gates instead of 3, 25% fewer recurrent weights, same accuracy on short texts</a:t>
            </a:r>
          </a:p>
          <a:p>
            <a:pPr marL="201168" indent="-201168">
              <a:spcAft>
                <a:spcPts val="400"/>
              </a:spcAft>
              <a:buClr>
                <a:srgbClr val="1B8A7A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Bidirectional: </a:t>
            </a:r>
            <a:r>
              <a:rPr sz="1200" b="0">
                <a:solidFill>
                  <a:srgbClr val="1D3557"/>
                </a:solidFill>
                <a:latin typeface="Calibri"/>
              </a:rPr>
              <a:t>every position sees left and right context ('shares fell' vs 'fell to rebels')</a:t>
            </a:r>
          </a:p>
          <a:p>
            <a:pPr marL="201168" indent="-201168">
              <a:spcAft>
                <a:spcPts val="400"/>
              </a:spcAft>
              <a:buClr>
                <a:srgbClr val="1B8A7A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Max + mean pooling: </a:t>
            </a:r>
            <a:r>
              <a:rPr sz="1200" b="0">
                <a:solidFill>
                  <a:srgbClr val="1D3557"/>
                </a:solidFill>
                <a:latin typeface="Calibri"/>
              </a:rPr>
              <a:t>strongest topic cue plus a whole-text summary</a:t>
            </a:r>
          </a:p>
        </p:txBody>
      </p:sp>
      <p:sp>
        <p:nvSpPr>
          <p:cNvPr id="55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6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7" name="!!tab0">
            <a:hlinkClick r:id="rId5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58" name="!!tab1">
            <a:hlinkClick r:id="rId6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59" name="!!tab2">
            <a:hlinkClick r:id="rId7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60" name="!!tab3">
            <a:hlinkClick r:id="rId8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61" name="!!tab4">
            <a:hlinkClick r:id="rId9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62" name="!!tab5">
            <a:hlinkClick r:id="rId10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63" name="!!tab6">
            <a:hlinkClick r:id="rId11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64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!!progress"/>
          <p:cNvSpPr/>
          <p:nvPr/>
        </p:nvSpPr>
        <p:spPr>
          <a:xfrm>
            <a:off x="548640" y="6382512"/>
            <a:ext cx="3549335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4C5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liders-horizonta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Hyperparameter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2 × 2 × 2 grid: embedding size, dropout, label smoothing (3 epochs on 60k rows, full validation set)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9/25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64922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u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48465"/>
            <a:ext cx="6217920" cy="320114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269480" y="1783080"/>
            <a:ext cx="437083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79" y="1920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How the model 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377440"/>
            <a:ext cx="393192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Embedding 200 &gt; 128 </a:t>
            </a:r>
            <a:r>
              <a:rPr sz="1400" b="0">
                <a:solidFill>
                  <a:srgbClr val="1D3557"/>
                </a:solidFill>
                <a:latin typeface="Calibri"/>
              </a:rPr>
              <a:t>in all 4 pairs: more capacity for rare words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Label smoothing 0.1 </a:t>
            </a:r>
            <a:r>
              <a:rPr sz="1400" b="0">
                <a:solidFill>
                  <a:srgbClr val="1D3557"/>
                </a:solidFill>
                <a:latin typeface="Calibri"/>
              </a:rPr>
              <a:t>helped in 3 of 4: softer targets, better-calibrated probabilities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Dropout 0.3 &gt; 0.5 </a:t>
            </a:r>
            <a:r>
              <a:rPr sz="1400" b="0">
                <a:solidFill>
                  <a:srgbClr val="1D3557"/>
                </a:solidFill>
                <a:latin typeface="Calibri"/>
              </a:rPr>
              <a:t>in 3 of 4: 0.5 underfits in a short run</a:t>
            </a:r>
          </a:p>
          <a:p>
            <a:pPr marL="201168" indent="-201168">
              <a:spcAft>
                <a:spcPts val="900"/>
              </a:spcAft>
              <a:buClr>
                <a:srgbClr val="1B8A7A"/>
              </a:buClr>
              <a:buFont typeface="Arial"/>
              <a:buChar char="•"/>
            </a:pPr>
            <a:r>
              <a:rPr sz="1400" b="1">
                <a:solidFill>
                  <a:srgbClr val="1D3557"/>
                </a:solidFill>
                <a:latin typeface="Calibri"/>
              </a:rPr>
              <a:t>Spread only 0.7 points: </a:t>
            </a:r>
            <a:r>
              <a:rPr sz="1400" b="0">
                <a:solidFill>
                  <a:srgbClr val="1D3557"/>
                </a:solidFill>
                <a:latin typeface="Calibri"/>
              </a:rPr>
              <a:t>architecture matters more than these settings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9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C5FD5"/>
                </a:solidFill>
                <a:latin typeface="Calibri"/>
              </a:rPr>
              <a:t>Selected: embedding 200, dropout 0.3, label smoothing 0.1, hidden 128, learning rate 2e-3</a:t>
            </a:r>
          </a:p>
        </p:txBody>
      </p:sp>
      <p:sp>
        <p:nvSpPr>
          <p:cNvPr id="31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2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3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4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5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36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7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38" name="!!tab5">
            <a:hlinkClick r:id="rId12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39" name="!!tab6">
            <a:hlinkClick r:id="rId13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0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!!progress"/>
          <p:cNvSpPr/>
          <p:nvPr/>
        </p:nvSpPr>
        <p:spPr>
          <a:xfrm>
            <a:off x="548640" y="6382512"/>
            <a:ext cx="3993001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4C5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rending-u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Training: is the model overfitting?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10/25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463040"/>
            <a:ext cx="768096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training_cur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55" y="1572768"/>
            <a:ext cx="7348329" cy="238658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8640" y="4206240"/>
            <a:ext cx="32918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e_lo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367" y="4279392"/>
            <a:ext cx="2464385" cy="136245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023360" y="4206240"/>
            <a:ext cx="42062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0" y="4315968"/>
            <a:ext cx="38404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7B"/>
                </a:solidFill>
                <a:latin typeface="Calibri"/>
              </a:rPr>
              <a:t>10 epochs in 142 s on an RTX 3050 Laptop GPU (4 GB), peak 1.3 GB VRAM. Losses and accuracies also logged to TensorBoard.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463040"/>
            <a:ext cx="3182112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80" y="16002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D3557"/>
                </a:solidFill>
                <a:latin typeface="Calibri"/>
              </a:rPr>
              <a:t>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057400"/>
            <a:ext cx="28346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1B8A7A"/>
              </a:buClr>
              <a:buFont typeface="Arial"/>
              <a:buChar char="•"/>
            </a:pPr>
            <a:r>
              <a:rPr sz="1300" b="1">
                <a:solidFill>
                  <a:srgbClr val="E4572E"/>
                </a:solidFill>
                <a:latin typeface="Calibri"/>
              </a:rPr>
              <a:t>Mild overfit: </a:t>
            </a:r>
            <a:r>
              <a:rPr sz="1300" b="0">
                <a:solidFill>
                  <a:srgbClr val="1D3557"/>
                </a:solidFill>
                <a:latin typeface="Calibri"/>
              </a:rPr>
              <a:t>train 98.3% vs validation 92.3%</a:t>
            </a:r>
          </a:p>
          <a:p>
            <a:pPr marL="201168" indent="-201168">
              <a:spcAft>
                <a:spcPts val="800"/>
              </a:spcAft>
              <a:buClr>
                <a:srgbClr val="1B8A7A"/>
              </a:buClr>
              <a:buFont typeface="Arial"/>
              <a:buChar char="•"/>
            </a:pPr>
            <a:r>
              <a:rPr sz="1300" b="1">
                <a:solidFill>
                  <a:srgbClr val="1D3557"/>
                </a:solidFill>
                <a:latin typeface="Calibri"/>
              </a:rPr>
              <a:t>Contained: </a:t>
            </a:r>
            <a:r>
              <a:rPr sz="1300" b="0">
                <a:solidFill>
                  <a:srgbClr val="1D3557"/>
                </a:solidFill>
                <a:latin typeface="Calibri"/>
              </a:rPr>
              <a:t>validation loss flat; early stopping keeps epoch 9</a:t>
            </a:r>
          </a:p>
          <a:p>
            <a:pPr marL="201168" indent="-201168">
              <a:spcAft>
                <a:spcPts val="800"/>
              </a:spcAft>
              <a:buClr>
                <a:srgbClr val="1B8A7A"/>
              </a:buClr>
              <a:buFont typeface="Arial"/>
              <a:buChar char="•"/>
            </a:pPr>
            <a:r>
              <a:rPr sz="1300" b="0">
                <a:solidFill>
                  <a:srgbClr val="1D3557"/>
                </a:solidFill>
                <a:latin typeface="Calibri"/>
              </a:rPr>
              <a:t>Train loss &gt; validation loss because of label smoothing and dropout in training</a:t>
            </a:r>
          </a:p>
          <a:p>
            <a:pPr marL="201168" indent="-201168">
              <a:spcAft>
                <a:spcPts val="800"/>
              </a:spcAft>
              <a:buClr>
                <a:srgbClr val="1B8A7A"/>
              </a:buClr>
              <a:buFont typeface="Arial"/>
              <a:buChar char="•"/>
            </a:pPr>
            <a:r>
              <a:rPr sz="1300" b="1">
                <a:solidFill>
                  <a:srgbClr val="1D3557"/>
                </a:solidFill>
                <a:latin typeface="Calibri"/>
              </a:rPr>
              <a:t>Autoencoder: </a:t>
            </a:r>
            <a:r>
              <a:rPr sz="1300" b="0">
                <a:solidFill>
                  <a:srgbClr val="1D3557"/>
                </a:solidFill>
                <a:latin typeface="Calibri"/>
              </a:rPr>
              <a:t>train and validation fall together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9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C5FD5"/>
                </a:solidFill>
                <a:latin typeface="Calibri"/>
              </a:rPr>
              <a:t>Dropout, BatchNorm, label smoothing and weight decay keep validation stable while training accuracy climbs</a:t>
            </a:r>
          </a:p>
        </p:txBody>
      </p:sp>
      <p:sp>
        <p:nvSpPr>
          <p:cNvPr id="34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5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6" name="!!tab0">
            <a:hlinkClick r:id="rId8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7" name="!!tab1">
            <a:hlinkClick r:id="rId9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8" name="!!tab2">
            <a:hlinkClick r:id="rId10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39" name="!!tab3">
            <a:hlinkClick r:id="rId11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0" name="!!tab4">
            <a:hlinkClick r:id="rId12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1" name="!!tab5">
            <a:hlinkClick r:id="rId13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2" name="!!tab6">
            <a:hlinkClick r:id="rId14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3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progress"/>
          <p:cNvSpPr/>
          <p:nvPr/>
        </p:nvSpPr>
        <p:spPr>
          <a:xfrm>
            <a:off x="548640" y="6382512"/>
            <a:ext cx="4436668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4C5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Evaluation on the untouched test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11/25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463040"/>
            <a:ext cx="493776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on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54" y="1600200"/>
            <a:ext cx="4165930" cy="39776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715000" y="146304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16168" y="1536192"/>
            <a:ext cx="142646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91.97%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2084832"/>
            <a:ext cx="14264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test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1463040"/>
            <a:ext cx="1828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27848" y="1536192"/>
            <a:ext cx="142646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1B8A7A"/>
                </a:solidFill>
                <a:latin typeface="Cambria"/>
              </a:rPr>
              <a:t>0.920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7848" y="2084832"/>
            <a:ext cx="14264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macro-F1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1463040"/>
            <a:ext cx="19019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8" y="1536192"/>
            <a:ext cx="1499616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800" b="1" i="0">
                <a:solidFill>
                  <a:srgbClr val="E9A23B"/>
                </a:solidFill>
                <a:latin typeface="Cambria"/>
              </a:rPr>
              <a:t>92.32%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084832"/>
            <a:ext cx="14996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TF-IDF + LR baseline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715000" y="2743200"/>
          <a:ext cx="5925312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Main confusion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Business (69)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easiest class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Sci/Tech (142)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Sci/Tech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D3557"/>
                          </a:solidFill>
                          <a:latin typeface="Calibri"/>
                        </a:rPr>
                        <a:t>Business (135)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715000" y="4709160"/>
            <a:ext cx="592531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7B"/>
                </a:solidFill>
                <a:latin typeface="Calibri"/>
              </a:rPr>
              <a:t>The baseline wins by 0.35 points: short news has strong keyword cues. The BiGRU earns its place as a calibrated label auditor (ECE 0.040).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9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light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C5FD5"/>
                </a:solidFill>
                <a:latin typeface="Calibri"/>
              </a:rPr>
              <a:t>Business and Sci/Tech overlap (Apple, Google, mergers), which is also where the auditor finds genuine ambiguity</a:t>
            </a:r>
          </a:p>
        </p:txBody>
      </p:sp>
      <p:sp>
        <p:nvSpPr>
          <p:cNvPr id="38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9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0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1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2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43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4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5" name="!!tab5">
            <a:hlinkClick r:id="rId12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6" name="!!tab6">
            <a:hlinkClick r:id="rId13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7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progress"/>
          <p:cNvSpPr/>
          <p:nvPr/>
        </p:nvSpPr>
        <p:spPr>
          <a:xfrm>
            <a:off x="548640" y="6382512"/>
            <a:ext cx="4880335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4C5FD5"/>
                </a:solidFill>
                <a:latin typeface="Calibri"/>
              </a:rPr>
              <a:t>BIGRU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BiGRU predictions on example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predict() on sentences we wrote and on random unseen test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12/25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783080"/>
          <a:ext cx="7818120" cy="3968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True label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Stocks rallied after the Fed left interest rates unchanged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own example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The Lakers beat the Celtics 112-104 behind a late run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own example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Researchers unveiled a chip that doubles battery life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Sci/Tech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own example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Peace talks resumed in Geneva as the UN pressed both sides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own example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Apple shares fell after weaker iPhone sales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 (Sci/Tech 0.34)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own example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Retailers Vie for Back-To-School Buyers (Reuters)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Motorola buy adds heat to mesh networking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Sci/Tech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Sci/Tech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Steel group sees continued strength in China demand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Iraq's Neighbors to Get Little for Environment Loss (Reute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Sci/Tech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Hughes allowed to speak to Rovers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D.C. to Face K.C. for MLS Championship (AP)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Yanks beat Pedro again; Santana wins 20th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Sports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UN Signs Pact with New World Court Opposed by U.S.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95360" y="1783080"/>
            <a:ext cx="304495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96528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C5FD5"/>
                </a:solidFill>
                <a:latin typeface="Calibri"/>
              </a:rPr>
              <a:t>Reading the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28600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700"/>
              </a:spcAft>
              <a:buClr>
                <a:srgbClr val="4C5FD5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Clear topics: </a:t>
            </a:r>
            <a:r>
              <a:rPr sz="1200" b="0">
                <a:solidFill>
                  <a:srgbClr val="1D3557"/>
                </a:solidFill>
                <a:latin typeface="Calibri"/>
              </a:rPr>
              <a:t>0.84 to 0.97 confidence</a:t>
            </a:r>
          </a:p>
          <a:p>
            <a:pPr marL="201168" indent="-201168">
              <a:spcAft>
                <a:spcPts val="700"/>
              </a:spcAft>
              <a:buClr>
                <a:srgbClr val="4C5FD5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Ambiguous: </a:t>
            </a:r>
            <a:r>
              <a:rPr sz="1200" b="0">
                <a:solidFill>
                  <a:srgbClr val="1D3557"/>
                </a:solidFill>
                <a:latin typeface="Calibri"/>
              </a:rPr>
              <a:t>Apple sales splits Business 0.50 / Sci/Tech 0.34</a:t>
            </a:r>
          </a:p>
          <a:p>
            <a:pPr marL="201168" indent="-201168">
              <a:spcAft>
                <a:spcPts val="700"/>
              </a:spcAft>
              <a:buClr>
                <a:srgbClr val="4C5FD5"/>
              </a:buClr>
              <a:buFont typeface="Arial"/>
              <a:buChar char="•"/>
            </a:pPr>
            <a:r>
              <a:rPr sz="1200" b="1">
                <a:solidFill>
                  <a:srgbClr val="1D3557"/>
                </a:solidFill>
                <a:latin typeface="Calibri"/>
              </a:rPr>
              <a:t>The one miss </a:t>
            </a:r>
            <a:r>
              <a:rPr sz="1200" b="0">
                <a:solidFill>
                  <a:srgbClr val="1D3557"/>
                </a:solidFill>
                <a:latin typeface="Calibri"/>
              </a:rPr>
              <a:t>(Iraq environment story) has only 0.40 confidence</a:t>
            </a:r>
          </a:p>
          <a:p>
            <a:pPr marL="201168" indent="-201168">
              <a:spcAft>
                <a:spcPts val="700"/>
              </a:spcAft>
              <a:buClr>
                <a:srgbClr val="4C5FD5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Confidence tracks correctness (ECE 0.040), which the label auditor relies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9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4C5FD5"/>
                </a:solidFill>
                <a:latin typeface="Calibri"/>
              </a:rPr>
              <a:t>Wrong or uncertain predictions come with low confidence, so only confident disagreements are flagged as label errors</a:t>
            </a:r>
          </a:p>
        </p:txBody>
      </p:sp>
      <p:sp>
        <p:nvSpPr>
          <p:cNvPr id="19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0" name="!!navactive"/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1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22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23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BiGRU</a:t>
            </a:r>
          </a:p>
        </p:txBody>
      </p:sp>
      <p:sp>
        <p:nvSpPr>
          <p:cNvPr id="24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25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26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27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28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progress"/>
          <p:cNvSpPr/>
          <p:nvPr/>
        </p:nvSpPr>
        <p:spPr>
          <a:xfrm>
            <a:off x="548640" y="6382512"/>
            <a:ext cx="5324002" cy="45720"/>
          </a:xfrm>
          <a:prstGeom prst="roundRect">
            <a:avLst>
              <a:gd name="adj" fmla="val 50000"/>
            </a:avLst>
          </a:prstGeom>
          <a:solidFill>
            <a:srgbClr val="4C5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E45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4572E"/>
                </a:solidFill>
                <a:latin typeface="Calibri"/>
              </a:rPr>
              <a:t>DETECTORS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Turning the classifier into a label auditor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Confident learning with per-class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13/25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7A"/>
                </a:solidFill>
                <a:latin typeface="Calibri"/>
              </a:rPr>
              <a:t>Decision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6634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D3557"/>
                </a:solidFill>
                <a:latin typeface="Cambria Math"/>
              </a:rPr>
              <a:t>t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j</a:t>
            </a:r>
            <a:r>
              <a:rPr sz="1500">
                <a:solidFill>
                  <a:srgbClr val="1D3557"/>
                </a:solidFill>
                <a:latin typeface="Cambria Math"/>
              </a:rPr>
              <a:t> = mean {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j</a:t>
            </a:r>
            <a:r>
              <a:rPr sz="1500">
                <a:solidFill>
                  <a:srgbClr val="1D3557"/>
                </a:solidFill>
                <a:latin typeface="Cambria Math"/>
              </a:rPr>
              <a:t>(x) : label(x) = j }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D3557"/>
                </a:solidFill>
                <a:latin typeface="Cambria Math"/>
              </a:rPr>
              <a:t>flag x  ⇔  ∃ k ≠ y : 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</a:t>
            </a:r>
            <a:r>
              <a:rPr sz="1500">
                <a:solidFill>
                  <a:srgbClr val="1D3557"/>
                </a:solidFill>
                <a:latin typeface="Cambria Math"/>
              </a:rPr>
              <a:t>(x) ≥ t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D3557"/>
                </a:solidFill>
                <a:latin typeface="Cambria Math"/>
              </a:rPr>
              <a:t>suggested = argmax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 ≠ y</a:t>
            </a:r>
            <a:r>
              <a:rPr sz="1500">
                <a:solidFill>
                  <a:srgbClr val="1D3557"/>
                </a:solidFill>
                <a:latin typeface="Cambria Math"/>
              </a:rPr>
              <a:t>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</a:t>
            </a:r>
            <a:r>
              <a:rPr sz="1500">
                <a:solidFill>
                  <a:srgbClr val="1D3557"/>
                </a:solidFill>
                <a:latin typeface="Cambria Math"/>
              </a:rPr>
              <a:t>  (among k with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</a:t>
            </a:r>
            <a:r>
              <a:rPr sz="1500">
                <a:solidFill>
                  <a:srgbClr val="1D3557"/>
                </a:solidFill>
                <a:latin typeface="Cambria Math"/>
              </a:rPr>
              <a:t> ≥ t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k</a:t>
            </a:r>
            <a:r>
              <a:rPr sz="1500">
                <a:solidFill>
                  <a:srgbClr val="1D3557"/>
                </a:solidFill>
                <a:latin typeface="Cambria Math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D3557"/>
                </a:solidFill>
                <a:latin typeface="Cambria Math"/>
              </a:rPr>
              <a:t>rank by margin =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suggested</a:t>
            </a:r>
            <a:r>
              <a:rPr sz="1500">
                <a:solidFill>
                  <a:srgbClr val="1D3557"/>
                </a:solidFill>
                <a:latin typeface="Cambria Math"/>
              </a:rPr>
              <a:t> − p</a:t>
            </a:r>
            <a:r>
              <a:rPr sz="1500" baseline="-25000">
                <a:solidFill>
                  <a:srgbClr val="1D3557"/>
                </a:solidFill>
                <a:latin typeface="Cambria Math"/>
              </a:rPr>
              <a:t>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B"/>
                </a:solidFill>
                <a:latin typeface="Calibri"/>
              </a:rPr>
              <a:t>Rows with fewer than 12 tokens are skipped: too little text to judge.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1783080"/>
            <a:ext cx="574243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l_threshol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369" y="1892807"/>
            <a:ext cx="5185452" cy="252374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48640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0.90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threshold for Sports (most confident class)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7A4E8C"/>
                </a:solidFill>
                <a:latin typeface="Cambria"/>
              </a:rPr>
              <a:t>0.81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threshold for Sci/Tech (least confident)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0.975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ROC-AUC on injected label flips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6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98864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E4572E"/>
                </a:solidFill>
                <a:latin typeface="Cambria"/>
              </a:rPr>
              <a:t>261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8864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suspect rows in the real AG News test set (3.4%)</a:t>
            </a:r>
          </a:p>
        </p:txBody>
      </p:sp>
      <p:sp>
        <p:nvSpPr>
          <p:cNvPr id="40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1" name="!!navactive"/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2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3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4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5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Detectors</a:t>
            </a:r>
          </a:p>
        </p:txBody>
      </p:sp>
      <p:sp>
        <p:nvSpPr>
          <p:cNvPr id="46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7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8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9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progress"/>
          <p:cNvSpPr/>
          <p:nvPr/>
        </p:nvSpPr>
        <p:spPr>
          <a:xfrm>
            <a:off x="548640" y="6382512"/>
            <a:ext cx="5767669" cy="457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E45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4572E"/>
                </a:solidFill>
                <a:latin typeface="Calibri"/>
              </a:rPr>
              <a:t>DETECTORS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Denoising character autoencoder: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Learns what normal news text looks like at the character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14/25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828800"/>
            <a:ext cx="1664208" cy="1737360"/>
          </a:xfrm>
          <a:prstGeom prst="roundRect">
            <a:avLst>
              <a:gd name="adj" fmla="val 6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90195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Char 2-4 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4,096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hashing trick, L2 norm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31136" y="2697480"/>
            <a:ext cx="173736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1828800"/>
            <a:ext cx="1664208" cy="1737360"/>
          </a:xfrm>
          <a:prstGeom prst="roundRect">
            <a:avLst>
              <a:gd name="adj" fmla="val 6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79" y="190195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Input dropout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4,096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10% noise (denoising)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05656" y="2697480"/>
            <a:ext cx="173736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97679" y="201168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399" y="208483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Encoder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512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Linear · BN · ReLU · Drop 0.2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0175" y="2697480"/>
            <a:ext cx="173736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72199" y="2286000"/>
            <a:ext cx="1664208" cy="82296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19" y="235915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Bottleneck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19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Linear · BN · ReLU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54696" y="2697480"/>
            <a:ext cx="173735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46719" y="2011680"/>
            <a:ext cx="1664208" cy="137160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0" y="208483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Decoder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512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9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Linear · ReLU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29215" y="2697480"/>
            <a:ext cx="173736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21240" y="1828800"/>
            <a:ext cx="1664208" cy="1737360"/>
          </a:xfrm>
          <a:prstGeom prst="roundRect">
            <a:avLst>
              <a:gd name="adj" fmla="val 6000"/>
            </a:avLst>
          </a:prstGeom>
          <a:solidFill>
            <a:srgbClr val="FC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66960" y="1901952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Reconstruction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60604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4572E"/>
                </a:solidFill>
                <a:latin typeface="Consolas"/>
              </a:rPr>
              <a:t>4,096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365760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Linear (no activation)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206240"/>
            <a:ext cx="475488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43434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Calibri"/>
              </a:rPr>
              <a:t>Objective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709159"/>
            <a:ext cx="4297680" cy="960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D3557"/>
                </a:solidFill>
                <a:latin typeface="Cambria Math"/>
              </a:rPr>
              <a:t>x̃ = dropout(x, 0.1)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D3557"/>
                </a:solidFill>
                <a:latin typeface="Cambria Math"/>
              </a:rPr>
              <a:t>L = (1/d) ‖ g(f(x̃)) − x ‖</a:t>
            </a:r>
            <a:r>
              <a:rPr sz="1400" baseline="30000">
                <a:solidFill>
                  <a:srgbClr val="1D3557"/>
                </a:solidFill>
                <a:latin typeface="Cambria Math"/>
              </a:rPr>
              <a:t>2</a:t>
            </a:r>
            <a:r>
              <a:rPr sz="1400">
                <a:solidFill>
                  <a:srgbClr val="1D3557"/>
                </a:solidFill>
                <a:latin typeface="Cambria Math"/>
              </a:rPr>
              <a:t>,   d = 4,096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532120" y="4206240"/>
          <a:ext cx="6108192" cy="1511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6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character n-grams?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Gibberish made of unknown words gives a word model an all-&lt;unk&gt; input: no signal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Encoder 2,131,648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n-grams always exist, and random or misspelled text produces n-grams news rarely has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Decoder 2,134,528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Hashing needs no vocabulary to fit or ship; the app rebuilds it identically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Total 4,266,176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" name="Rounded Rectangle 54">
            <a:hlinkClick r:id="rId5" action="ppaction://hlinksldjump"/>
          </p:cNvPr>
          <p:cNvSpPr/>
          <p:nvPr/>
        </p:nvSpPr>
        <p:spPr>
          <a:xfrm>
            <a:off x="9902952" y="5897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Scoring  →</a:t>
            </a:r>
          </a:p>
        </p:txBody>
      </p:sp>
      <p:sp>
        <p:nvSpPr>
          <p:cNvPr id="56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7" name="!!navactive"/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8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59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60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61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Detectors</a:t>
            </a:r>
          </a:p>
        </p:txBody>
      </p:sp>
      <p:sp>
        <p:nvSpPr>
          <p:cNvPr id="62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63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64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65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!!progress"/>
          <p:cNvSpPr/>
          <p:nvPr/>
        </p:nvSpPr>
        <p:spPr>
          <a:xfrm>
            <a:off x="548640" y="6382512"/>
            <a:ext cx="6211336" cy="457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4572E"/>
                </a:solidFill>
                <a:latin typeface="Calibri"/>
              </a:rPr>
              <a:t>DETECTORS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Autoencoder: features and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From raw text to a 4,096-dimensional character profile, learned only from clean news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15/25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1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Calibri"/>
              </a:rPr>
              <a:t>1  Raw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D3557"/>
                </a:solidFill>
                <a:latin typeface="Consolas"/>
              </a:rPr>
              <a:t>"Oil hits record high"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8308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87451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Calibri"/>
              </a:rPr>
              <a:t>2  char_wb 2-4 grams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3592" y="224028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 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8808" y="224028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4024" y="224028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24028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oil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93592" y="251460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il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8808" y="251460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 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251460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hit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251460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93592" y="278892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 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78808" y="278892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rec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64024" y="278892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40" y="2788920"/>
            <a:ext cx="530352" cy="228600"/>
          </a:xfrm>
          <a:prstGeom prst="roundRect">
            <a:avLst>
              <a:gd name="adj" fmla="val 50000"/>
            </a:avLst>
          </a:prstGeom>
          <a:solidFill>
            <a:srgbClr val="FA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>
                <a:solidFill>
                  <a:srgbClr val="E4572E"/>
                </a:solidFill>
                <a:latin typeface="Consolas"/>
              </a:rPr>
              <a:t>hig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7830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87451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Calibri"/>
              </a:rPr>
              <a:t>3  Hash into buckets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4028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bucket = hash(n-gram) mod 4,096
no vocabulary to fit or ship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1783080"/>
            <a:ext cx="26334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719" y="1874519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Calibri"/>
              </a:rPr>
              <a:t>4  Input vector 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2240280"/>
            <a:ext cx="22677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x ∈ ℝ⁴⁰⁹⁶, ‖x‖ = 1
≈ 388 active buckets per row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18688" y="2468880"/>
            <a:ext cx="182880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468880"/>
            <a:ext cx="182880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96528" y="2468880"/>
            <a:ext cx="182880" cy="0"/>
          </a:xfrm>
          <a:prstGeom prst="line">
            <a:avLst/>
          </a:prstGeom>
          <a:ln w="22225">
            <a:solidFill>
              <a:srgbClr val="E457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8640" y="3337560"/>
            <a:ext cx="35661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344728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4572E"/>
                </a:solidFill>
                <a:latin typeface="Calibri"/>
              </a:rPr>
              <a:t>Training setup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813048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107,638 cleaned training texts only</a:t>
            </a:r>
          </a:p>
          <a:p>
            <a:pPr marL="201168" indent="-201168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Adam, lr 1e-3, batch 512, 12 epochs</a:t>
            </a:r>
          </a:p>
          <a:p>
            <a:pPr marL="201168" indent="-201168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10% input dropout, MSE reconstruction loss</a:t>
            </a:r>
          </a:p>
          <a:p>
            <a:pPr marL="201168" indent="-201168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47 s on the GPU, 0.28 GB peak memory</a:t>
            </a:r>
          </a:p>
          <a:p>
            <a:pPr marL="201168" indent="-201168">
              <a:spcAft>
                <a:spcPts val="300"/>
              </a:spcAft>
              <a:buClr>
                <a:srgbClr val="E4572E"/>
              </a:buClr>
              <a:buFont typeface="Arial"/>
              <a:buChar char="•"/>
            </a:pPr>
            <a:r>
              <a:rPr sz="1200" b="0">
                <a:solidFill>
                  <a:srgbClr val="1D3557"/>
                </a:solidFill>
                <a:latin typeface="Calibri"/>
              </a:rPr>
              <a:t>Sparse rows densified one batch at a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337560"/>
            <a:ext cx="3429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3616208"/>
            <a:ext cx="3209544" cy="1774422"/>
          </a:xfrm>
          <a:prstGeom prst="rect">
            <a:avLst/>
          </a:prstGeom>
        </p:spPr>
      </p:pic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7909560" y="3337560"/>
          <a:ext cx="3730752" cy="23042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Real news sentence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-1.66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Short headline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Heavy typos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-0.24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OOV rule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Random characters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3.65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Python code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2.59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Product listing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2.98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4" name="!!navactive"/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5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6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7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8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Detectors</a:t>
            </a:r>
          </a:p>
        </p:txBody>
      </p:sp>
      <p:sp>
        <p:nvSpPr>
          <p:cNvPr id="49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50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51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2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!!progress"/>
          <p:cNvSpPr/>
          <p:nvPr/>
        </p:nvSpPr>
        <p:spPr>
          <a:xfrm>
            <a:off x="548640" y="6382512"/>
            <a:ext cx="6655003" cy="457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E45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E4572E"/>
                </a:solidFill>
                <a:latin typeface="Calibri"/>
              </a:rPr>
              <a:t>DETECTORS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ctivit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Autoencoder: a fair, length-calibrated anomaly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Our first version flagged short normal texts; length calibration fixed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16/25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69494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e_calib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94" y="1892807"/>
            <a:ext cx="6685731" cy="22951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726679" y="1783080"/>
            <a:ext cx="3913632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1920240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8A7A"/>
                </a:solidFill>
                <a:latin typeface="Calibri"/>
              </a:rPr>
              <a:t>Length-calibrated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345643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D3557"/>
                </a:solidFill>
                <a:latin typeface="Cambria Math"/>
              </a:rPr>
              <a:t>e = (1/d) ‖x̂ − x‖</a:t>
            </a:r>
            <a:r>
              <a:rPr sz="1300" baseline="30000">
                <a:solidFill>
                  <a:srgbClr val="1D3557"/>
                </a:solidFill>
                <a:latin typeface="Cambria Math"/>
              </a:rPr>
              <a:t>2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D3557"/>
                </a:solidFill>
                <a:latin typeface="Cambria Math"/>
              </a:rPr>
              <a:t>b = bin of the active n-gram count (20 bins)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D3557"/>
                </a:solidFill>
                <a:latin typeface="Cambria Math"/>
              </a:rPr>
              <a:t>z = (log e − median</a:t>
            </a:r>
            <a:r>
              <a:rPr sz="1300" baseline="-25000">
                <a:solidFill>
                  <a:srgbClr val="1D3557"/>
                </a:solidFill>
                <a:latin typeface="Cambria Math"/>
              </a:rPr>
              <a:t>b</a:t>
            </a:r>
            <a:r>
              <a:rPr sz="1300">
                <a:solidFill>
                  <a:srgbClr val="1D3557"/>
                </a:solidFill>
                <a:latin typeface="Cambria Math"/>
              </a:rPr>
              <a:t>) / (1.4826 · MAD</a:t>
            </a:r>
            <a:r>
              <a:rPr sz="1300" baseline="-25000">
                <a:solidFill>
                  <a:srgbClr val="1D3557"/>
                </a:solidFill>
                <a:latin typeface="Cambria Math"/>
              </a:rPr>
              <a:t>b</a:t>
            </a:r>
            <a:r>
              <a:rPr sz="1300">
                <a:solidFill>
                  <a:srgbClr val="1D3557"/>
                </a:solidFill>
                <a:latin typeface="Cambria Math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D3557"/>
                </a:solidFill>
                <a:latin typeface="Cambria Math"/>
              </a:rPr>
              <a:t>flag  ⇔  z &gt; 2.16  (99th pct of clean)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55371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600" b="1" i="0">
                <a:solidFill>
                  <a:srgbClr val="E4572E"/>
                </a:solidFill>
                <a:latin typeface="Cambria"/>
              </a:rPr>
              <a:t>95.7%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102352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short clean rows flagged by one raw threshold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448056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455371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600" b="1" i="0">
                <a:solidFill>
                  <a:srgbClr val="1B8A7A"/>
                </a:solidFill>
                <a:latin typeface="Cambria"/>
              </a:rPr>
              <a:t>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102352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short clean rows flagged after calibration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48056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455371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600" b="1" i="0">
                <a:solidFill>
                  <a:srgbClr val="1B8A7A"/>
                </a:solidFill>
                <a:latin typeface="Cambria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5102352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gibberish flagged (with the OOV &gt; 30% rule)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448056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98864" y="455371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600" b="1" i="0">
                <a:solidFill>
                  <a:srgbClr val="1B8A7A"/>
                </a:solidFill>
                <a:latin typeface="Cambria"/>
              </a:rPr>
              <a:t>0.983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5102352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ROC-AUC on junk rows in the benchmark</a:t>
            </a:r>
          </a:p>
        </p:txBody>
      </p:sp>
      <p:sp>
        <p:nvSpPr>
          <p:cNvPr id="39" name="Rounded Rectangle 38">
            <a:hlinkClick r:id="rId6" action="ppaction://hlinksldjump"/>
          </p:cNvPr>
          <p:cNvSpPr/>
          <p:nvPr/>
        </p:nvSpPr>
        <p:spPr>
          <a:xfrm>
            <a:off x="548640" y="5897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←  Architecture</a:t>
            </a:r>
          </a:p>
        </p:txBody>
      </p:sp>
      <p:sp>
        <p:nvSpPr>
          <p:cNvPr id="40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1" name="!!navactive"/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2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3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4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5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Detectors</a:t>
            </a:r>
          </a:p>
        </p:txBody>
      </p:sp>
      <p:sp>
        <p:nvSpPr>
          <p:cNvPr id="46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7" name="!!tab5">
            <a:hlinkClick r:id="rId12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8" name="!!tab6">
            <a:hlinkClick r:id="rId13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49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progress"/>
          <p:cNvSpPr/>
          <p:nvPr/>
        </p:nvSpPr>
        <p:spPr>
          <a:xfrm>
            <a:off x="548640" y="6382512"/>
            <a:ext cx="7098670" cy="4572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D97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The recommender: from findings to an ordered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Every finding becomes a scored, explained issue with a fix and a place in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17/25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291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8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an-search_D977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70" y="1959010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" y="18105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D3557"/>
                </a:solidFill>
                <a:latin typeface="Calibri"/>
              </a:rPr>
              <a:t>Profiler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05740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B"/>
                </a:solidFill>
                <a:latin typeface="Calibri"/>
              </a:rPr>
              <a:t>missing, duplicates, conflicts, sparsity, outliers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58768" y="2066543"/>
            <a:ext cx="347472" cy="658369"/>
          </a:xfrm>
          <a:prstGeom prst="line">
            <a:avLst/>
          </a:prstGeom>
          <a:ln w="22225"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2441448"/>
            <a:ext cx="3291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253288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8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brain_D977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70" y="2617378"/>
            <a:ext cx="215066" cy="2150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5568" y="2468879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D3557"/>
                </a:solidFill>
                <a:latin typeface="Calibri"/>
              </a:rPr>
              <a:t>BiGRU auditor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71576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B"/>
                </a:solidFill>
                <a:latin typeface="Calibri"/>
              </a:rPr>
              <a:t>confident-learning label noise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58768" y="2724912"/>
            <a:ext cx="347472" cy="0"/>
          </a:xfrm>
          <a:prstGeom prst="line">
            <a:avLst/>
          </a:prstGeom>
          <a:ln w="22225"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3099815"/>
            <a:ext cx="3291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8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layers_D977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70" y="3275746"/>
            <a:ext cx="215066" cy="2150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568" y="3127247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D3557"/>
                </a:solidFill>
                <a:latin typeface="Calibri"/>
              </a:rPr>
              <a:t>Autoencoder + OOV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374135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B7B"/>
                </a:solidFill>
                <a:latin typeface="Calibri"/>
              </a:rPr>
              <a:t>garbled and off-domain rows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858768" y="2724912"/>
            <a:ext cx="347472" cy="658367"/>
          </a:xfrm>
          <a:prstGeom prst="line">
            <a:avLst/>
          </a:prstGeom>
          <a:ln w="22225"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24528" y="224028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9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228600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Issue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60604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D3557"/>
                </a:solidFill>
                <a:latin typeface="Calibri"/>
              </a:rPr>
              <a:t>category, severity, rows, why, fix, code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28816" y="2724912"/>
            <a:ext cx="329184" cy="0"/>
          </a:xfrm>
          <a:prstGeom prst="line">
            <a:avLst/>
          </a:prstGeom>
          <a:ln w="22225"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76288" y="2240280"/>
            <a:ext cx="2194560" cy="960120"/>
          </a:xfrm>
          <a:prstGeom prst="roundRect">
            <a:avLst>
              <a:gd name="adj" fmla="val 6000"/>
            </a:avLst>
          </a:prstGeom>
          <a:solidFill>
            <a:srgbClr val="F9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95160" y="2286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Quality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606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D3557"/>
                </a:solidFill>
                <a:latin typeface="Calibri"/>
              </a:rPr>
              <a:t>5 dimensions → 0-100, grade A-F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89136" y="2724912"/>
            <a:ext cx="329184" cy="0"/>
          </a:xfrm>
          <a:prstGeom prst="line">
            <a:avLst/>
          </a:prstGeom>
          <a:ln w="22225">
            <a:solidFill>
              <a:srgbClr val="D9770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436608" y="2240280"/>
            <a:ext cx="2203704" cy="960120"/>
          </a:xfrm>
          <a:prstGeom prst="roundRect">
            <a:avLst>
              <a:gd name="adj" fmla="val 6000"/>
            </a:avLst>
          </a:prstGeom>
          <a:solidFill>
            <a:srgbClr val="F9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55480" y="2286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Plan +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6060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D3557"/>
                </a:solidFill>
                <a:latin typeface="Calibri"/>
              </a:rPr>
              <a:t>HTML / Markdown, issues CSV, preprocess.py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48640" y="3886200"/>
          <a:ext cx="3291840" cy="18105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 of rows affected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≥ 20%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≥ 5%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≥ 1%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&lt; 1%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advice only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069080" y="3886200"/>
          <a:ext cx="4572000" cy="18105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Score = 100 −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% missing cells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% duplicate + % near-duplicate rows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½ % artifacts + % junk/short + ½ % outliers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Label quality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2 × % bad-label rows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Balance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100 × normalised entropy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8869680" y="3886200"/>
            <a:ext cx="2770632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395935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Plan order (step 0 to 11)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251960"/>
            <a:ext cx="24688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D3557"/>
                </a:solidFill>
                <a:latin typeface="Calibri"/>
              </a:rPr>
              <a:t>standardise missing → drop ID columns → empty / invalid labels → repair text → duplicates and conflicts → near duplicates → short / junk rows → vocabulary → sequence length, outliers → scaling → class imbalance → label noise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A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Overall = Σ w·s / Σ w over the 5 dimensions; A ≥ 90, B ≥ 80, C ≥ 70. Weights renormalise when there is no label column</a:t>
            </a:r>
          </a:p>
        </p:txBody>
      </p:sp>
      <p:sp>
        <p:nvSpPr>
          <p:cNvPr id="49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0" name="!!navactive"/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51" name="!!tab0">
            <a:hlinkClick r:id="rId9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52" name="!!tab1">
            <a:hlinkClick r:id="rId10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53" name="!!tab2">
            <a:hlinkClick r:id="rId11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54" name="!!tab3">
            <a:hlinkClick r:id="rId12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55" name="!!tab4">
            <a:hlinkClick r:id="rId13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Recommender</a:t>
            </a:r>
          </a:p>
        </p:txBody>
      </p:sp>
      <p:sp>
        <p:nvSpPr>
          <p:cNvPr id="56" name="!!tab5">
            <a:hlinkClick r:id="rId14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57" name="!!tab6">
            <a:hlinkClick r:id="rId15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8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!!progress"/>
          <p:cNvSpPr/>
          <p:nvPr/>
        </p:nvSpPr>
        <p:spPr>
          <a:xfrm>
            <a:off x="548640" y="6382512"/>
            <a:ext cx="7542336" cy="457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D97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Benchmark: injecting problems we can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Unseen AG News test rows, 14 corruption types in separate rows, ground truth saved (seed 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18/25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783080"/>
          <a:ext cx="7498080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Injected issue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Simulates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Should be caught by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Label flip (5%)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annotation mistakes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BiGRU label auditor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Missing title / 'N/A' title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228 / 38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broken scraper fields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missing, placeholder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Missing / blank description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152 / 76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empty fields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missing, blank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Gibberish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junk rows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Autoencoder + OOV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Heavy typos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OCR noise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Autoencoder + OOV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Off-domain (code, logs, listings)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wrong source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Autoencoder + OOV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HTML markup + URLs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unstripped web pages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artifacts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Truncated description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cut-off records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very short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Invalid label (0, 5, 'unknown', NaN)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bad label values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label domain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Exact / near / conflicting duplicates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152 / 76 / 38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repeated stories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Profiler: duplicates, conflicts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75320" y="1783080"/>
            <a:ext cx="3364992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190195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libri"/>
              </a:rPr>
              <a:t>How we score it</a:t>
            </a:r>
          </a:p>
        </p:txBody>
      </p:sp>
      <p:sp>
        <p:nvSpPr>
          <p:cNvPr id="14" name="Oval 13"/>
          <p:cNvSpPr/>
          <p:nvPr/>
        </p:nvSpPr>
        <p:spPr>
          <a:xfrm>
            <a:off x="8476488" y="2377439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3172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D3557"/>
                </a:solidFill>
                <a:latin typeface="Calibri"/>
              </a:rPr>
              <a:t>Inject 1,824 problems into separate rows; add 266 duplicate rows → 7,866 rows</a:t>
            </a:r>
          </a:p>
        </p:txBody>
      </p:sp>
      <p:sp>
        <p:nvSpPr>
          <p:cNvPr id="16" name="Oval 15"/>
          <p:cNvSpPr/>
          <p:nvPr/>
        </p:nvSpPr>
        <p:spPr>
          <a:xfrm>
            <a:off x="8476488" y="3200399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54679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D3557"/>
                </a:solidFill>
                <a:latin typeface="Calibri"/>
              </a:rPr>
              <a:t>Run the full audit: profiler, BiGRU, autoencoder (13.8 s)</a:t>
            </a:r>
          </a:p>
        </p:txBody>
      </p:sp>
      <p:sp>
        <p:nvSpPr>
          <p:cNvPr id="18" name="Oval 17"/>
          <p:cNvSpPr/>
          <p:nvPr/>
        </p:nvSpPr>
        <p:spPr>
          <a:xfrm>
            <a:off x="8476488" y="4023359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977639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D3557"/>
                </a:solidFill>
                <a:latin typeface="Calibri"/>
              </a:rPr>
              <a:t>Compare flagged rows with the saved truth, per detector</a:t>
            </a:r>
          </a:p>
        </p:txBody>
      </p:sp>
      <p:sp>
        <p:nvSpPr>
          <p:cNvPr id="20" name="Oval 19"/>
          <p:cNvSpPr/>
          <p:nvPr/>
        </p:nvSpPr>
        <p:spPr>
          <a:xfrm>
            <a:off x="8476488" y="484632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80060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D3557"/>
                </a:solidFill>
                <a:latin typeface="Calibri"/>
              </a:rPr>
              <a:t>Report recall, precision, ROC-AUC and false alarms on the 6,042 untouched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A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Ground truth turns 'the report looks right' into measured recall and precision for every check</a:t>
            </a:r>
          </a:p>
        </p:txBody>
      </p:sp>
      <p:sp>
        <p:nvSpPr>
          <p:cNvPr id="26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7" name="!!navactive"/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8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29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0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31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2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Recommender</a:t>
            </a:r>
          </a:p>
        </p:txBody>
      </p:sp>
      <p:sp>
        <p:nvSpPr>
          <p:cNvPr id="33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34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35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progress"/>
          <p:cNvSpPr/>
          <p:nvPr/>
        </p:nvSpPr>
        <p:spPr>
          <a:xfrm>
            <a:off x="548640" y="6382512"/>
            <a:ext cx="7986003" cy="457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D97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Benchmark results: what the system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Recall per injected issue, and how precise the two deep learning detectors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9" name="Rounded Rectangle 8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19/25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96" y="1874519"/>
            <a:ext cx="5281086" cy="256032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783080"/>
          <a:ext cx="5376672" cy="1920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Detector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Flagged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Rule checks (10 issue types)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exact rules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BiGRU label auditor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762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91.3%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50% flips, 66% any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Autoencoder alone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381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79% junk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79% junk, 82% any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Autoencoder + OOV &gt; 30%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D3557"/>
                          </a:solidFill>
                          <a:latin typeface="Calibri"/>
                        </a:rPr>
                        <a:t>100% junk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263640" y="3794760"/>
            <a:ext cx="5376672" cy="731520"/>
          </a:xfrm>
          <a:prstGeom prst="roundRect">
            <a:avLst>
              <a:gd name="adj" fmla="val 6000"/>
            </a:avLst>
          </a:prstGeom>
          <a:solidFill>
            <a:srgbClr val="FA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8404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D3557"/>
                </a:solidFill>
                <a:latin typeface="Calibri"/>
              </a:rPr>
              <a:t>Most auditor flags that are not injected are real: e.g. a Boston archbishop story labelled Sports, the Sprint and Nextel merger labelled Sci/Tech.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mbria"/>
              </a:rPr>
              <a:t>86.1 → 98.8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benchmark score after applying the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1.1%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autoencoder false alarms on untouched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E4572E"/>
                </a:solidFill>
                <a:latin typeface="Cambria"/>
              </a:rPr>
              <a:t>5.5%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clean rows lost by the drop-based cleaner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8864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4C5FD5"/>
                </a:solidFill>
                <a:latin typeface="Cambria"/>
              </a:rPr>
              <a:t>261 (3.4%)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suspect labels in the real AG News test set</a:t>
            </a:r>
          </a:p>
        </p:txBody>
      </p:sp>
      <p:sp>
        <p:nvSpPr>
          <p:cNvPr id="28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9" name="!!navactive"/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0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1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2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33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4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Recommender</a:t>
            </a:r>
          </a:p>
        </p:txBody>
      </p:sp>
      <p:sp>
        <p:nvSpPr>
          <p:cNvPr id="35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36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37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progress"/>
          <p:cNvSpPr/>
          <p:nvPr/>
        </p:nvSpPr>
        <p:spPr>
          <a:xfrm>
            <a:off x="548640" y="6382512"/>
            <a:ext cx="8429670" cy="457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8A5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8A5CC2"/>
                </a:solidFill>
                <a:latin typeface="Calibri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o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Preprocessing agent: state, actions and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A tool-using loop over the recommender's issues (dq/agent.py)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20/25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19019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7A4E8C"/>
                </a:solidFill>
                <a:latin typeface="Calibri"/>
              </a:rPr>
              <a:t>State (observe)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600"/>
              </a:spcAft>
              <a:buClr>
                <a:srgbClr val="7A4E8C"/>
              </a:buClr>
              <a:buFont typeface="Arial"/>
              <a:buChar char="•"/>
            </a:pPr>
            <a:r>
              <a:rPr sz="1300" b="0">
                <a:solidFill>
                  <a:srgbClr val="1D3557"/>
                </a:solidFill>
                <a:latin typeface="Calibri"/>
              </a:rPr>
              <a:t>Profile: missing, duplicates, conflicts, sparsity, outliers, balance</a:t>
            </a:r>
          </a:p>
          <a:p>
            <a:pPr marL="201168" indent="-201168">
              <a:spcAft>
                <a:spcPts val="600"/>
              </a:spcAft>
              <a:buClr>
                <a:srgbClr val="7A4E8C"/>
              </a:buClr>
              <a:buFont typeface="Arial"/>
              <a:buChar char="•"/>
            </a:pPr>
            <a:r>
              <a:rPr sz="1300" b="0">
                <a:solidFill>
                  <a:srgbClr val="1D3557"/>
                </a:solidFill>
                <a:latin typeface="Calibri"/>
              </a:rPr>
              <a:t>Issues with affected-row counts and severity</a:t>
            </a:r>
          </a:p>
          <a:p>
            <a:pPr marL="201168" indent="-201168">
              <a:spcAft>
                <a:spcPts val="600"/>
              </a:spcAft>
              <a:buClr>
                <a:srgbClr val="7A4E8C"/>
              </a:buClr>
              <a:buFont typeface="Arial"/>
              <a:buChar char="•"/>
            </a:pPr>
            <a:r>
              <a:rPr sz="1300" b="0">
                <a:solidFill>
                  <a:srgbClr val="1D3557"/>
                </a:solidFill>
                <a:latin typeface="Calibri"/>
              </a:rPr>
              <a:t>Quality score and its 5 dimensions</a:t>
            </a:r>
          </a:p>
          <a:p>
            <a:pPr marL="201168" indent="-201168">
              <a:spcAft>
                <a:spcPts val="600"/>
              </a:spcAft>
              <a:buClr>
                <a:srgbClr val="7A4E8C"/>
              </a:buClr>
              <a:buFont typeface="Arial"/>
              <a:buChar char="•"/>
            </a:pPr>
            <a:r>
              <a:rPr sz="1300" b="0">
                <a:solidFill>
                  <a:srgbClr val="1D3557"/>
                </a:solidFill>
                <a:latin typeface="Calibri"/>
              </a:rPr>
              <a:t>Model evidence: BiGRU label noise, autoencoder anomalies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343400" y="1783080"/>
          <a:ext cx="7296912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library (applied in this order)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Targets issue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Standardise disguised missing ('N/A', blanks → NaN)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disguised_missing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repair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 empty-text rows / invalid or missing labels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empty_text, invalid_labels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Impute text from the other field; numeric median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missing_&lt;col&gt;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repair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Repair encodings and markup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artifacts_*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repair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Resolve conflicting labels by majority vote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label_conflict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Remove exact, normalised and near duplicates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dup_rows, near_dup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Remove junk rows (autoencoder + OOV &gt; 30%)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anomalies, high_oov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Remove truncated texts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very_short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Fix mislabels: relabel if p ≥ 0.90, else 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label_noise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drop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Tabular: drop ID/constant cols, clip, log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D3557"/>
                          </a:solidFill>
                          <a:latin typeface="Consolas"/>
                        </a:rPr>
                        <a:t>outliers_*, skew_*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3557"/>
                          </a:solidFill>
                          <a:latin typeface="Calibri"/>
                        </a:rPr>
                        <a:t>repair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" name="Rounded Rectangle 25">
            <a:hlinkClick r:id="rId5" action="ppaction://hlinksldjump"/>
          </p:cNvPr>
          <p:cNvSpPr/>
          <p:nvPr/>
        </p:nvSpPr>
        <p:spPr>
          <a:xfrm>
            <a:off x="9902952" y="5897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7A4E8C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loop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A4E8C"/>
                </a:solidFill>
                <a:latin typeface="Calibri"/>
              </a:rPr>
              <a:t>Row-loss budget 20%  ·  mislabel policy: relabel_confident (also relabel_all, drop_all, flag_only)</a:t>
            </a:r>
          </a:p>
        </p:txBody>
      </p:sp>
      <p:sp>
        <p:nvSpPr>
          <p:cNvPr id="28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29" name="!!navactive"/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0" name="!!tab0">
            <a:hlinkClick r:id="rId6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31" name="!!tab1">
            <a:hlinkClick r:id="rId7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32" name="!!tab2">
            <a:hlinkClick r:id="rId8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33" name="!!tab3">
            <a:hlinkClick r:id="rId9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34" name="!!tab4">
            <a:hlinkClick r:id="rId10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35" name="!!tab5">
            <a:hlinkClick r:id="rId11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6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37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progress"/>
          <p:cNvSpPr/>
          <p:nvPr/>
        </p:nvSpPr>
        <p:spPr>
          <a:xfrm>
            <a:off x="548640" y="6382512"/>
            <a:ext cx="8873337" cy="45720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8A5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8A5CC2"/>
                </a:solidFill>
                <a:latin typeface="Calibri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fresh-c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Agent: the observe → plan → act → verify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Deterministic, auditable decisions with 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21/25</a:t>
            </a:r>
          </a:p>
        </p:txBody>
      </p:sp>
      <p:sp>
        <p:nvSpPr>
          <p:cNvPr id="22" name="Oval 21"/>
          <p:cNvSpPr/>
          <p:nvPr/>
        </p:nvSpPr>
        <p:spPr>
          <a:xfrm>
            <a:off x="2331720" y="3017520"/>
            <a:ext cx="1463040" cy="1463040"/>
          </a:xfrm>
          <a:prstGeom prst="ellipse">
            <a:avLst/>
          </a:prstGeom>
          <a:noFill/>
          <a:ln w="25400">
            <a:solidFill>
              <a:srgbClr val="5B6B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40" y="3428999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D3557"/>
                </a:solidFill>
                <a:latin typeface="Calibri"/>
              </a:rPr>
              <a:t>one action</a:t>
            </a:r>
          </a:p>
          <a:p>
            <a:pPr algn="ctr"/>
            <a:r>
              <a:rPr sz="1100" b="0" i="0">
                <a:solidFill>
                  <a:srgbClr val="5B6B7B"/>
                </a:solidFill>
                <a:latin typeface="Calibri"/>
              </a:rPr>
              <a:t>per iteration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7420" y="178308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27148" y="2002536"/>
            <a:ext cx="420624" cy="420624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1779" y="1856231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1779" y="2167128"/>
            <a:ext cx="1069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audit → profile, issues,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337559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995928" y="3557015"/>
            <a:ext cx="420624" cy="420624"/>
          </a:xfrm>
          <a:prstGeom prst="ellipse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10711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721607"/>
            <a:ext cx="1069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next action whose issue is present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17420" y="484632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327148" y="5065776"/>
            <a:ext cx="420624" cy="420624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1779" y="4919472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1779" y="5230368"/>
            <a:ext cx="1069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apply to a copy, check budget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37559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8368" y="3557015"/>
            <a:ext cx="420624" cy="42062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410711"/>
            <a:ext cx="1051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3557"/>
                </a:solidFill>
                <a:latin typeface="Calibri"/>
              </a:rPr>
              <a:t>Verify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721607"/>
            <a:ext cx="1069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re-audit; keep or roll 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1783080"/>
            <a:ext cx="5879592" cy="393192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1947672"/>
            <a:ext cx="5422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FD3C7"/>
                </a:solidFill>
                <a:latin typeface="Calibri"/>
              </a:rPr>
              <a:t>dq/agent.py  ·  run()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267712"/>
            <a:ext cx="5422392" cy="3355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D3C7"/>
                </a:solidFill>
                <a:latin typeface="Consolas"/>
              </a:rPr>
              <a:t>state = audit(df)                      # observe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for action in LIBRARY:                 # plan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if state.affected(action.targets) == 0: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    continue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new = action.apply(copy(df))         # act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if action.destructive and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   rows_lost(new) &gt; 0.20 * n0:</a:t>
            </a:r>
          </a:p>
          <a:p>
            <a:pPr algn="l"/>
            <a:r>
              <a:rPr sz="1200" b="0" i="0">
                <a:solidFill>
                  <a:srgbClr val="F6B49F"/>
                </a:solidFill>
                <a:latin typeface="Consolas"/>
              </a:rPr>
              <a:t>        log('refused: over budget'); continue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after = audit(new)                   # verify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if after.score + 0.05 &lt; state.score:</a:t>
            </a:r>
          </a:p>
          <a:p>
            <a:pPr algn="l"/>
            <a:r>
              <a:rPr sz="1200" b="0" i="0">
                <a:solidFill>
                  <a:srgbClr val="F6B49F"/>
                </a:solidFill>
                <a:latin typeface="Consolas"/>
              </a:rPr>
              <a:t>        log('rolled back')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    else:</a:t>
            </a:r>
          </a:p>
          <a:p>
            <a:pPr algn="l"/>
            <a:r>
              <a:rPr sz="1200" b="0" i="0">
                <a:solidFill>
                  <a:srgbClr val="A8E6CF"/>
                </a:solidFill>
                <a:latin typeface="Consolas"/>
              </a:rPr>
              <a:t>        df, state = new, after; log(why, effect)</a:t>
            </a:r>
          </a:p>
          <a:p>
            <a:pPr algn="l"/>
            <a:r>
              <a:rPr sz="1200" b="0" i="0">
                <a:solidFill>
                  <a:srgbClr val="E6EDF3"/>
                </a:solidFill>
                <a:latin typeface="Consolas"/>
              </a:rPr>
              <a:t>advise(state)   # vocab, max_len, grouped split</a:t>
            </a:r>
          </a:p>
        </p:txBody>
      </p:sp>
      <p:sp>
        <p:nvSpPr>
          <p:cNvPr id="43" name="Rounded Rectangle 42">
            <a:hlinkClick r:id="rId5" action="ppaction://hlinksldjump"/>
          </p:cNvPr>
          <p:cNvSpPr/>
          <p:nvPr/>
        </p:nvSpPr>
        <p:spPr>
          <a:xfrm>
            <a:off x="548640" y="5897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←  Actions</a:t>
            </a:r>
          </a:p>
        </p:txBody>
      </p:sp>
      <p:sp>
        <p:nvSpPr>
          <p:cNvPr id="44" name="Rounded Rectangle 43">
            <a:hlinkClick r:id="rId6" action="ppaction://hlinksldjump"/>
          </p:cNvPr>
          <p:cNvSpPr/>
          <p:nvPr/>
        </p:nvSpPr>
        <p:spPr>
          <a:xfrm>
            <a:off x="9902952" y="5897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7A4E8C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results  →</a:t>
            </a:r>
          </a:p>
        </p:txBody>
      </p:sp>
      <p:sp>
        <p:nvSpPr>
          <p:cNvPr id="45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6" name="!!navactive"/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7" name="!!tab0">
            <a:hlinkClick r:id="rId7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8" name="!!tab1">
            <a:hlinkClick r:id="rId8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9" name="!!tab2">
            <a:hlinkClick r:id="rId9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50" name="!!tab3">
            <a:hlinkClick r:id="rId10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51" name="!!tab4">
            <a:hlinkClick r:id="rId11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52" name="!!tab5">
            <a:hlinkClick r:id="rId5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53" name="!!tab6">
            <a:hlinkClick r:id="rId12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4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!!progress"/>
          <p:cNvSpPr/>
          <p:nvPr/>
        </p:nvSpPr>
        <p:spPr>
          <a:xfrm>
            <a:off x="548640" y="6382512"/>
            <a:ext cx="9317004" cy="45720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8A5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8A5CC2"/>
                </a:solidFill>
                <a:latin typeface="Calibri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pl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Agent run on the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10 actions applied, 2 pieces of advice, 0 rollbacks, 24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22/25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69494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agent_traje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965002"/>
            <a:ext cx="6729983" cy="2607955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26679" y="1783080"/>
          <a:ext cx="3913632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Biggest steps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1D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Repair encodings (4,568 cells)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+4.7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Remove junk rows (466)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+2.8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Fix mislabels (412 relabelled, 212 dropped)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+3.9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Everything else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T="27432" marB="27432" anchor="ctr">
                    <a:lnL w="6350">
                      <a:solidFill>
                        <a:srgbClr val="DCE3E9"/>
                      </a:solidFill>
                    </a:lnL>
                    <a:lnR w="6350">
                      <a:solidFill>
                        <a:srgbClr val="DCE3E9"/>
                      </a:solidFill>
                    </a:lnR>
                    <a:lnT w="6350">
                      <a:solidFill>
                        <a:srgbClr val="DCE3E9"/>
                      </a:solidFill>
                    </a:lnT>
                    <a:lnB w="6350">
                      <a:solidFill>
                        <a:srgbClr val="DCE3E9"/>
                      </a:solidFill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48640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200" b="1" i="0">
                <a:solidFill>
                  <a:srgbClr val="7A4E8C"/>
                </a:solidFill>
                <a:latin typeface="Cambria"/>
              </a:rPr>
              <a:t>86.2 → 99.6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quality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4992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200" b="1" i="0">
                <a:solidFill>
                  <a:srgbClr val="1B8A7A"/>
                </a:solidFill>
                <a:latin typeface="Cambria"/>
              </a:rPr>
              <a:t>6,785 vs 6,428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rows kept: agent vs fixed cleaner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200" b="1" i="0">
                <a:solidFill>
                  <a:srgbClr val="1B8A7A"/>
                </a:solidFill>
                <a:latin typeface="Cambria"/>
              </a:rPr>
              <a:t>285 / 380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label flips relabelled to the true class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7696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98864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200" b="1" i="0">
                <a:solidFill>
                  <a:srgbClr val="E4572E"/>
                </a:solidFill>
                <a:latin typeface="Cambria"/>
              </a:rPr>
              <a:t>4.3% vs 5.5%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clean rows lost: agent vs cleaner</a:t>
            </a:r>
          </a:p>
        </p:txBody>
      </p:sp>
      <p:sp>
        <p:nvSpPr>
          <p:cNvPr id="37" name="Rounded Rectangle 36">
            <a:hlinkClick r:id="rId6" action="ppaction://hlinksldjump"/>
          </p:cNvPr>
          <p:cNvSpPr/>
          <p:nvPr/>
        </p:nvSpPr>
        <p:spPr>
          <a:xfrm>
            <a:off x="9902952" y="41605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←  How it works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0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5CC2"/>
                </a:solidFill>
                <a:latin typeface="Calibri"/>
              </a:rPr>
              <a:t>Every decision is logged with what the agent saw, what it did, why it helps and the measured effect</a:t>
            </a:r>
          </a:p>
        </p:txBody>
      </p:sp>
      <p:sp>
        <p:nvSpPr>
          <p:cNvPr id="42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3" name="!!navactive"/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4" name="!!tab0">
            <a:hlinkClick r:id="rId8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5" name="!!tab1">
            <a:hlinkClick r:id="rId9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6" name="!!tab2">
            <a:hlinkClick r:id="rId10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7" name="!!tab3">
            <a:hlinkClick r:id="rId11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8" name="!!tab4">
            <a:hlinkClick r:id="rId12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9" name="!!tab5">
            <a:hlinkClick r:id="rId13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50" name="!!tab6">
            <a:hlinkClick r:id="rId14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1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progress"/>
          <p:cNvSpPr/>
          <p:nvPr/>
        </p:nvSpPr>
        <p:spPr>
          <a:xfrm>
            <a:off x="548640" y="6382512"/>
            <a:ext cx="9760671" cy="45720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8A5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8A5CC2"/>
                </a:solidFill>
                <a:latin typeface="Calibri"/>
              </a:rP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hart-colum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Does the cleaning actually help a model?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Same TF-IDF + logistic regression model, trained on each version, scored on 5,000 independent clean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23/25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ownstr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129797"/>
            <a:ext cx="5303520" cy="204976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63640" y="1783080"/>
            <a:ext cx="5376672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tepwi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1925864"/>
            <a:ext cx="5193792" cy="245763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48640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of the accuracy lost to the issues recovered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66160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+1.18 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from fixing mislabels, the only step above noise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B8A7A"/>
                </a:solidFill>
                <a:latin typeface="Cambria"/>
              </a:rPr>
              <a:t>+1.02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accuracy: 87.60% dirty → 88.62% after the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97696" y="46634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98864" y="4736592"/>
            <a:ext cx="2249424" cy="53035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2400" b="1" i="0">
                <a:solidFill>
                  <a:srgbClr val="1D3557"/>
                </a:solidFill>
                <a:latin typeface="Cambria"/>
              </a:rPr>
              <a:t>88.82%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5285231"/>
            <a:ext cx="224942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B"/>
                </a:solidFill>
                <a:latin typeface="Calibri"/>
              </a:rPr>
              <a:t>upper bound: the original clean 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F0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5CC2"/>
                </a:solidFill>
                <a:latin typeface="Calibri"/>
              </a:rPr>
              <a:t>Label quality moved accuracy most; duplicate and encoding fixes make evaluation honest and the input cleaner</a:t>
            </a:r>
          </a:p>
        </p:txBody>
      </p:sp>
      <p:sp>
        <p:nvSpPr>
          <p:cNvPr id="42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3" name="!!navactive"/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4" name="!!tab0">
            <a:hlinkClick r:id="rId8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5" name="!!tab1">
            <a:hlinkClick r:id="rId9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6" name="!!tab2">
            <a:hlinkClick r:id="rId10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7" name="!!tab3">
            <a:hlinkClick r:id="rId11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8" name="!!tab4">
            <a:hlinkClick r:id="rId12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9" name="!!tab5">
            <a:hlinkClick r:id="rId13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50" name="!!tab6">
            <a:hlinkClick r:id="rId14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Wrap-up</a:t>
            </a:r>
          </a:p>
        </p:txBody>
      </p:sp>
      <p:sp>
        <p:nvSpPr>
          <p:cNvPr id="51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progress"/>
          <p:cNvSpPr/>
          <p:nvPr/>
        </p:nvSpPr>
        <p:spPr>
          <a:xfrm>
            <a:off x="548640" y="6382512"/>
            <a:ext cx="10204338" cy="45720"/>
          </a:xfrm>
          <a:prstGeom prst="roundRect">
            <a:avLst>
              <a:gd name="adj" fmla="val 50000"/>
            </a:avLst>
          </a:prstGeom>
          <a:solidFill>
            <a:srgbClr val="8A5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ner_16A3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4747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WRAP-UP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84124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965972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786384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3557"/>
                </a:solidFill>
                <a:latin typeface="Cambria"/>
              </a:rPr>
              <a:t>Looking 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3258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7B"/>
                </a:solidFill>
                <a:latin typeface="Calibri"/>
              </a:rPr>
              <a:t>Benchmark model, plan of attack, and what we would do differently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7B"/>
                </a:solidFill>
                <a:latin typeface="Calibri"/>
              </a:rPr>
              <a:t>DQ-Recommender  ·  AASD 4014 Deep Learning I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10104120" y="646480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⌂ 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3931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B6B7B"/>
                </a:solidFill>
                <a:latin typeface="Calibri"/>
              </a:rPr>
              <a:t>24/25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1783080"/>
            <a:ext cx="359359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B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1965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D3557"/>
                </a:solidFill>
                <a:latin typeface="Calibri"/>
              </a:rPr>
              <a:t>Did we have a benchmark?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651760"/>
            <a:ext cx="3154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10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Yes: TF-IDF + logistic regression, 92.32% test accuracy</a:t>
            </a:r>
          </a:p>
          <a:p>
            <a:pPr marL="201168" indent="-201168">
              <a:spcAft>
                <a:spcPts val="10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It beat our BiGRU by 0.35 points; we kept the BiGRU for calibrated probabilities</a:t>
            </a:r>
          </a:p>
          <a:p>
            <a:pPr marL="201168" indent="-201168">
              <a:spcAft>
                <a:spcPts val="1000"/>
              </a:spcAft>
              <a:buClr>
                <a:srgbClr val="1B8A7A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For the agent, dirty (87.60%) and original (88.82%) data bracket the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1783080"/>
            <a:ext cx="359359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6279" y="1965960"/>
            <a:ext cx="457200" cy="457200"/>
          </a:xfrm>
          <a:prstGeom prst="ellipse">
            <a:avLst/>
          </a:prstGeom>
          <a:solidFill>
            <a:srgbClr val="2F6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1965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D3557"/>
                </a:solidFill>
                <a:latin typeface="Calibri"/>
              </a:rPr>
              <a:t>Did the plan make sense?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2651760"/>
            <a:ext cx="3154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1000"/>
              </a:spcAft>
              <a:buClr>
                <a:srgbClr val="2F6690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Yes, testing detectors on injected issues was the key decision</a:t>
            </a:r>
          </a:p>
          <a:p>
            <a:pPr marL="201168" indent="-201168">
              <a:spcAft>
                <a:spcPts val="1000"/>
              </a:spcAft>
              <a:buClr>
                <a:srgbClr val="2F6690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It exposed a flaw: v1 autoencoder flagged 96% of short clean texts</a:t>
            </a:r>
          </a:p>
          <a:p>
            <a:pPr marL="201168" indent="-201168">
              <a:spcAft>
                <a:spcPts val="1000"/>
              </a:spcAft>
              <a:buClr>
                <a:srgbClr val="2F6690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Retraining a model showed which agent steps really matter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1783080"/>
            <a:ext cx="359359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75319" y="1965960"/>
            <a:ext cx="457200" cy="4572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19659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D3557"/>
                </a:solidFill>
                <a:latin typeface="Calibri"/>
              </a:rPr>
              <a:t>What would we change?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2651760"/>
            <a:ext cx="31546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10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Fine-tune a pretrained encoder (DistilBERT) for accuracy and calibration</a:t>
            </a:r>
          </a:p>
          <a:p>
            <a:pPr marL="201168" indent="-201168">
              <a:spcAft>
                <a:spcPts val="10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Out-of-fold label auditing, so training sets can be audited without bias</a:t>
            </a:r>
          </a:p>
          <a:p>
            <a:pPr marL="201168" indent="-201168">
              <a:spcAft>
                <a:spcPts val="10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Let the agent pick drop, relabel or impute by measured downstream gain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8368" y="5888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light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1" y="5953109"/>
            <a:ext cx="163860" cy="1638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1560" y="5806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  <a:latin typeface="Calibri"/>
              </a:rPr>
              <a:t>Lesson: evaluate the detector, not just the model, and measure preprocessing by its effect on a model</a:t>
            </a:r>
          </a:p>
        </p:txBody>
      </p:sp>
      <p:sp>
        <p:nvSpPr>
          <p:cNvPr id="38" name="!!navtrack"/>
          <p:cNvSpPr/>
          <p:nvPr/>
        </p:nvSpPr>
        <p:spPr>
          <a:xfrm>
            <a:off x="4087368" y="274320"/>
            <a:ext cx="7571231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39" name="!!navactive"/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/>
          </a:p>
        </p:txBody>
      </p:sp>
      <p:sp>
        <p:nvSpPr>
          <p:cNvPr id="40" name="!!tab0">
            <a:hlinkClick r:id="rId5" action="ppaction://hlinksldjump"/>
          </p:cNvPr>
          <p:cNvSpPr/>
          <p:nvPr/>
        </p:nvSpPr>
        <p:spPr>
          <a:xfrm>
            <a:off x="416052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Background</a:t>
            </a:r>
          </a:p>
        </p:txBody>
      </p:sp>
      <p:sp>
        <p:nvSpPr>
          <p:cNvPr id="41" name="!!tab1">
            <a:hlinkClick r:id="rId6" action="ppaction://hlinksldjump"/>
          </p:cNvPr>
          <p:cNvSpPr/>
          <p:nvPr/>
        </p:nvSpPr>
        <p:spPr>
          <a:xfrm>
            <a:off x="5221224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Data</a:t>
            </a:r>
          </a:p>
        </p:txBody>
      </p:sp>
      <p:sp>
        <p:nvSpPr>
          <p:cNvPr id="42" name="!!tab2">
            <a:hlinkClick r:id="rId7" action="ppaction://hlinksldjump"/>
          </p:cNvPr>
          <p:cNvSpPr/>
          <p:nvPr/>
        </p:nvSpPr>
        <p:spPr>
          <a:xfrm>
            <a:off x="6281927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BiGRU</a:t>
            </a:r>
          </a:p>
        </p:txBody>
      </p:sp>
      <p:sp>
        <p:nvSpPr>
          <p:cNvPr id="43" name="!!tab3">
            <a:hlinkClick r:id="rId8" action="ppaction://hlinksldjump"/>
          </p:cNvPr>
          <p:cNvSpPr/>
          <p:nvPr/>
        </p:nvSpPr>
        <p:spPr>
          <a:xfrm>
            <a:off x="7342631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Detectors</a:t>
            </a:r>
          </a:p>
        </p:txBody>
      </p:sp>
      <p:sp>
        <p:nvSpPr>
          <p:cNvPr id="44" name="!!tab4">
            <a:hlinkClick r:id="rId9" action="ppaction://hlinksldjump"/>
          </p:cNvPr>
          <p:cNvSpPr/>
          <p:nvPr/>
        </p:nvSpPr>
        <p:spPr>
          <a:xfrm>
            <a:off x="8403336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Recommender</a:t>
            </a:r>
          </a:p>
        </p:txBody>
      </p:sp>
      <p:sp>
        <p:nvSpPr>
          <p:cNvPr id="45" name="!!tab5">
            <a:hlinkClick r:id="rId10" action="ppaction://hlinksldjump"/>
          </p:cNvPr>
          <p:cNvSpPr/>
          <p:nvPr/>
        </p:nvSpPr>
        <p:spPr>
          <a:xfrm>
            <a:off x="9464040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0">
                <a:solidFill>
                  <a:srgbClr val="5B6B7B"/>
                </a:solidFill>
                <a:latin typeface="Calibri"/>
              </a:rPr>
              <a:t>Agent</a:t>
            </a:r>
          </a:p>
        </p:txBody>
      </p:sp>
      <p:sp>
        <p:nvSpPr>
          <p:cNvPr id="46" name="!!tab6">
            <a:hlinkClick r:id="rId11" action="ppaction://hlinksldjump"/>
          </p:cNvPr>
          <p:cNvSpPr/>
          <p:nvPr/>
        </p:nvSpPr>
        <p:spPr>
          <a:xfrm>
            <a:off x="10524743" y="320040"/>
            <a:ext cx="1060704" cy="32918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Wrap-up</a:t>
            </a:r>
          </a:p>
        </p:txBody>
      </p:sp>
      <p:sp>
        <p:nvSpPr>
          <p:cNvPr id="47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!!progress"/>
          <p:cNvSpPr/>
          <p:nvPr/>
        </p:nvSpPr>
        <p:spPr>
          <a:xfrm>
            <a:off x="548640" y="6382512"/>
            <a:ext cx="10648005" cy="457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1D3557"/>
                </a:solidFill>
                <a:latin typeface="Cambria"/>
              </a:rPr>
              <a:t>Conclusions and 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011680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37" y="2102205"/>
            <a:ext cx="230428" cy="230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1874519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Problem 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874519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Wrong labels, junk rows and rule-level issues are found automatically, with severity, a score and an ordered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6112" y="2926080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" y="3016605"/>
            <a:ext cx="230428" cy="2304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27889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788920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BiGRU 91.97% test accuracy with a contained mild overfit; calibrated autoencoder flags non-news text with 1.1% false alarms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112" y="3840480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art-colum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" y="3931005"/>
            <a:ext cx="230428" cy="2304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37033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Real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703320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The agent lifts the score 86.2 → 99.6 and recovers 84% of lost model accuracy; 3.4% of real AG News test rows look mislabelled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6675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" y="4754880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rout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37" y="4845405"/>
            <a:ext cx="230428" cy="2304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63040" y="461772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  <a:latin typeface="Calibri"/>
              </a:rPr>
              <a:t>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17720"/>
            <a:ext cx="4160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D3557"/>
                </a:solidFill>
                <a:latin typeface="Calibri"/>
              </a:rPr>
              <a:t>Pretrained encoder, label checks for any domain, learned severities, monitoring of incoming batches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828800"/>
            <a:ext cx="3749039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79" y="19659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4572E"/>
                </a:solidFill>
                <a:latin typeface="Calibri"/>
              </a:rPr>
              <a:t>Live demo (Streamlit)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42316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Load the benchmark with injected issues</a:t>
            </a:r>
          </a:p>
          <a:p>
            <a:pPr marL="201168" indent="-201168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Walk the report: score, issues, code</a:t>
            </a:r>
          </a:p>
          <a:p>
            <a:pPr marL="201168" indent="-201168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Run the agent and read its step cards</a:t>
            </a:r>
          </a:p>
          <a:p>
            <a:pPr marL="201168" indent="-201168">
              <a:spcAft>
                <a:spcPts val="800"/>
              </a:spcAft>
              <a:buClr>
                <a:srgbClr val="E4572E"/>
              </a:buClr>
              <a:buFont typeface="Arial"/>
              <a:buChar char="•"/>
            </a:pPr>
            <a:r>
              <a:rPr sz="1400" b="0">
                <a:solidFill>
                  <a:srgbClr val="1D3557"/>
                </a:solidFill>
                <a:latin typeface="Calibri"/>
              </a:rPr>
              <a:t>Download the cleaned CSV and preprocess.py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80060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100" b="0">
                <a:solidFill>
                  <a:srgbClr val="1D3557"/>
                </a:solidFill>
                <a:latin typeface="Consolas"/>
              </a:rPr>
              <a:t>streamlit run app.py  →  localhost:8501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D3557"/>
                </a:solidFill>
                <a:latin typeface="Cambria"/>
              </a:rPr>
              <a:t>Thank you. Questions?</a:t>
            </a:r>
          </a:p>
        </p:txBody>
      </p:sp>
      <p:sp>
        <p:nvSpPr>
          <p:cNvPr id="30" name="Rounded Rectangle 29">
            <a:hlinkClick r:id="rId7" action="ppaction://hlinksldjump"/>
          </p:cNvPr>
          <p:cNvSpPr/>
          <p:nvPr/>
        </p:nvSpPr>
        <p:spPr>
          <a:xfrm>
            <a:off x="9738360" y="5852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3E9"/>
            </a:solidFill>
          </a:ln>
          <a:effectLst>
            <a:outerShdw blurRad="114300" dist="25400" dir="5400000" algn="t" rotWithShape="0">
              <a:srgbClr val="1D355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>
                <a:solidFill>
                  <a:srgbClr val="1D3557"/>
                </a:solidFill>
                <a:latin typeface="Calibri"/>
              </a:rPr>
              <a:t>⌂  Home</a:t>
            </a:r>
          </a:p>
        </p:txBody>
      </p:sp>
      <p:sp>
        <p:nvSpPr>
          <p:cNvPr id="31" name="!!progtrack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progress"/>
          <p:cNvSpPr/>
          <p:nvPr/>
        </p:nvSpPr>
        <p:spPr>
          <a:xfrm>
            <a:off x="548640" y="6382512"/>
            <a:ext cx="11091672" cy="457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4170</Words>
  <Application>Microsoft Office PowerPoint</Application>
  <PresentationFormat>Widescreen</PresentationFormat>
  <Paragraphs>917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Kashyap Vedantam</cp:lastModifiedBy>
  <cp:revision>4</cp:revision>
  <dcterms:created xsi:type="dcterms:W3CDTF">2013-01-27T09:14:16Z</dcterms:created>
  <dcterms:modified xsi:type="dcterms:W3CDTF">2026-10-02T03:56:10Z</dcterms:modified>
  <cp:category/>
</cp:coreProperties>
</file>